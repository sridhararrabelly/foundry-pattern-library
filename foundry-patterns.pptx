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82" r:id="rId31"/>
    <p:sldId id="259" r:id="rId4"/>
    <p:sldId id="272" r:id="rId5"/>
    <p:sldId id="273" r:id="rId6"/>
    <p:sldId id="266" r:id="rId7"/>
    <p:sldId id="278" r:id="rId21"/>
    <p:sldId id="274" r:id="rId8"/>
    <p:sldId id="260" r:id="rId9"/>
    <p:sldId id="261" r:id="rId10"/>
    <p:sldId id="276" r:id="rId11"/>
    <p:sldId id="279" r:id="rId28"/>
    <p:sldId id="268" r:id="rId13"/>
    <p:sldId id="277" r:id="rId14"/>
    <p:sldId id="262" r:id="rId12"/>
    <p:sldId id="263" r:id="rId15"/>
    <p:sldId id="281" r:id="rId30"/>
    <p:sldId id="267" r:id="rId16"/>
    <p:sldId id="275" r:id="rId17"/>
    <p:sldId id="265" r:id="rId19"/>
    <p:sldId id="264" r:id="rId18"/>
    <p:sldId id="269" r:id="rId20"/>
    <p:sldId id="280" r:id="rId29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5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1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7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2.xml"/><Relationship Id="rId29" Type="http://schemas.openxmlformats.org/officeDocument/2006/relationships/slide" Target="slides/slide23.xml"/><Relationship Id="rId30" Type="http://schemas.openxmlformats.org/officeDocument/2006/relationships/slide" Target="slides/slide17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 pattern families   ·   16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948672" y="384048"/>
            <a:ext cx="100584" cy="100584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384048"/>
            <a:ext cx="100584" cy="100584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48672" y="502920"/>
            <a:ext cx="100584" cy="100584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67544" y="502920"/>
            <a:ext cx="100584" cy="100584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77856" y="329184"/>
            <a:ext cx="141732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05E5C"/>
                </a:solidFill>
                <a:latin typeface="Aptos"/>
              </a:rPr>
              <a:t>Microsoft Foundry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7955279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91F2C"/>
                </a:solidFill>
                <a:latin typeface="Aptos"/>
              </a:rPr>
              <a:t>One enterprise agent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34440"/>
            <a:ext cx="96012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05E5C"/>
                </a:solidFill>
                <a:latin typeface="Aptos Mono"/>
              </a:rPr>
              <a:t>Build → context → run → govern → improve → surface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1600200" cy="2240280"/>
          </a:xfrm>
          <a:prstGeom prst="roundRect">
            <a:avLst/>
          </a:prstGeom>
          <a:solidFill>
            <a:srgbClr val="F3F1F8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1271016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91F2C"/>
                </a:solidFill>
                <a:latin typeface="Aptos"/>
              </a:rP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63240"/>
            <a:ext cx="12710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Code · prompts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skills 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31136" y="2761488"/>
            <a:ext cx="201168" cy="310896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9736" y="1828800"/>
            <a:ext cx="1600200" cy="2240280"/>
          </a:xfrm>
          <a:prstGeom prst="roundRect">
            <a:avLst/>
          </a:prstGeom>
          <a:solidFill>
            <a:srgbClr val="F3F1F8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24328" y="2011680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4328" y="2377440"/>
            <a:ext cx="1271016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91F2C"/>
                </a:solidFill>
                <a:latin typeface="Aptos"/>
              </a:rPr>
              <a:t>Microsoft 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4328" y="3063240"/>
            <a:ext cx="12710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Enterprise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and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23944" y="2761488"/>
            <a:ext cx="201168" cy="310896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52544" y="1828800"/>
            <a:ext cx="1600200" cy="2240280"/>
          </a:xfrm>
          <a:prstGeom prst="roundRect">
            <a:avLst/>
          </a:prstGeom>
          <a:solidFill>
            <a:srgbClr val="8661C5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2011680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377440"/>
            <a:ext cx="1271016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Foundry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3063240"/>
            <a:ext cx="12710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ptos"/>
              </a:rPr>
              <a:t>Agent runtime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ptos"/>
              </a:rPr>
              <a:t>and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16752" y="2761488"/>
            <a:ext cx="201168" cy="310896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45351" y="1828800"/>
            <a:ext cx="1600200" cy="2240280"/>
          </a:xfrm>
          <a:prstGeom prst="roundRect">
            <a:avLst/>
          </a:prstGeom>
          <a:solidFill>
            <a:srgbClr val="F3F1F8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3" y="2011680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3" y="2377440"/>
            <a:ext cx="1271016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91F2C"/>
                </a:solidFill>
                <a:latin typeface="Aptos"/>
              </a:rPr>
              <a:t>Entra + Purview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3" y="3063240"/>
            <a:ext cx="12710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Identity · policy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safety · approval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59" y="2761488"/>
            <a:ext cx="201168" cy="310896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38159" y="1828800"/>
            <a:ext cx="1600200" cy="2240280"/>
          </a:xfrm>
          <a:prstGeom prst="roundRect">
            <a:avLst/>
          </a:prstGeom>
          <a:solidFill>
            <a:srgbClr val="F3F1F8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1" y="2011680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1" y="2377440"/>
            <a:ext cx="1271016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91F2C"/>
                </a:solidFill>
                <a:latin typeface="Aptos"/>
              </a:rPr>
              <a:t>Evaluate +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91F2C"/>
                </a:solidFill>
                <a:latin typeface="Aptos"/>
              </a:rPr>
              <a:t>optimize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1" y="3063240"/>
            <a:ext cx="12710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Quality · cost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feedback loops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02367" y="2761488"/>
            <a:ext cx="201168" cy="310896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030967" y="1828800"/>
            <a:ext cx="1600200" cy="2240280"/>
          </a:xfrm>
          <a:prstGeom prst="roundRect">
            <a:avLst/>
          </a:prstGeom>
          <a:solidFill>
            <a:srgbClr val="F3F1F8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95559" y="2011680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59" y="2377440"/>
            <a:ext cx="1271016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91F2C"/>
                </a:solidFill>
                <a:latin typeface="Aptos"/>
              </a:rPr>
              <a:t>Apps + M365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59" y="3063240"/>
            <a:ext cx="12710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APIs · Teams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where work happens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590288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" y="4864608"/>
            <a:ext cx="109728" cy="109728"/>
          </a:xfrm>
          <a:prstGeom prst="rect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8408" y="4718304"/>
            <a:ext cx="28346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91F2C"/>
                </a:solidFill>
                <a:latin typeface="Aptos"/>
              </a:rPr>
              <a:t>Compose, don’t replace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" y="5074920"/>
            <a:ext cx="28346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Keep your gateway and cloud.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Add Foundry’s agent factory.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43400" y="4590288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6280" y="4864608"/>
            <a:ext cx="109728" cy="109728"/>
          </a:xfrm>
          <a:prstGeom prst="rect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0" y="4718304"/>
            <a:ext cx="28346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91F2C"/>
                </a:solidFill>
                <a:latin typeface="Aptos"/>
              </a:rPr>
              <a:t>Govern by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0" y="5074920"/>
            <a:ext cx="28346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Identity · policy · safety · approval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surround the runtime.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2" y="4590288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02752" y="4864608"/>
            <a:ext cx="109728" cy="109728"/>
          </a:xfrm>
          <a:prstGeom prst="rect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31352" y="4718304"/>
            <a:ext cx="28346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91F2C"/>
                </a:solidFill>
                <a:latin typeface="Aptos"/>
              </a:rPr>
              <a:t>Improve under evidence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1352" y="5074920"/>
            <a:ext cx="28346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Evaluation and telemetry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05E5C"/>
                </a:solidFill>
                <a:latin typeface="Aptos"/>
              </a:rPr>
              <a:t>feed controlled releases.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400800"/>
            <a:ext cx="11064240" cy="9144"/>
          </a:xfrm>
          <a:prstGeom prst="rect">
            <a:avLst/>
          </a:prstGeom>
          <a:solidFill>
            <a:srgbClr val="D2D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5E5C"/>
                </a:solidFill>
                <a:latin typeface="Aptos Mono"/>
              </a:rPr>
              <a:t>Microsoft Foundry Patterns  ·  subject to change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5E5C"/>
                </a:solidFill>
                <a:latin typeface="Aptos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Human approval for consequential tool actions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Model adaptation (fine-tuning &amp; evaluation)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5A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orchestration (multi-agent coordination)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5B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Workflow orchestration (graph-based pipeline)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/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lifecycle &amp; promotion (dev → test → prod)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Fifteen pattern families in four groups. Sixteen runnable demos.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  ·   08  AI safety   ·   13  Human approval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approval for consequential tool actions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“Pause the exact tool call. Approval controls intent; authorization still controls access.”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runs immediately · reject creates zero effects · approve + replay creates exactly one.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+ proposed action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approval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exact name + arguments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decision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identity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Change-control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nonce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/ reject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tools continue without an approval interruption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 and stale decisions fail closed with zero side effects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Nonce + decision + effect IDs correlate; replay stays exactly once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14  Adaptation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 adaptation (fine-tuning &amp; evaluation)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“Fine-tune stable behavior, not changing knowledge — and prove the gain on untouched data.”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benchmark → reviewed SFT job → identical held-out eval → release gate + cleanup.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never used for training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first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SFT job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 JSONL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eval tier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 + cleanup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behavior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RAG / Search / Foundry IQ remain the path for changing knowledge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Schema, accuracy, adherence, tokens and latency — not training loss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measured gain or any configured regression means no promotion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05A  Agent orchestration   ·   05B  Workflow orchestration   ·   09  Cross-cloud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05A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orchestration (multi-agent coordination)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“Coordinate agents with a reusable pattern; use a graph when the process must own control.”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ConcurrentBuilder fans out to specialists; one hosted endpoint returns the fan-in result.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ConcurrentBuilder · high-level multi-agent collaboration pattern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5A coordinates agents · 5B controls an explicit process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05B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Workflow orchestration (graph-based pipeline)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“Agents contribute judgment. The workflow owns routing, state and control.”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Mixed code + agent graph · deterministic switch · fail-closed default · checkpoint resume.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executor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risk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executor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Policy + switch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edges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Audit record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executor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typed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message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route</a:t>
            </a: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WorkflowBuilder makes nodes, edges and terminal output inspectable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/ impact rules override model judgment and route exceptions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Trusted superstep checkpoints resume to the same audit ID and decision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  ·   06  Observability   ·   11  Cost   ·   15  Lifecycle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CI gate — relevant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169663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3968496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3968496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229600" y="4169663"/>
            <a:ext cx="1636776" cy="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latency telemetry · rate-card cost by agent/version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lifecycle &amp; promotion (dev → test → prod)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“Promote immutable versions behind one endpoint; roll back the selector, not the state.”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Failing candidate blocked · passing candidate pinned · same URL · rollback restores v1 + state.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manifest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commit + aliases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 →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smoke + cloud eval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candidate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prior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version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 evidence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agent object model — no new legacy Agent Application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 URL does not change across promotion or rollback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OIDC + complete release record; conversation store is not deleted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Entra and Purview across your estate.</a:t>
            </a: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948672" y="384048"/>
            <a:ext cx="100584" cy="100584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384048"/>
            <a:ext cx="100584" cy="100584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48672" y="502920"/>
            <a:ext cx="100584" cy="100584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67544" y="502920"/>
            <a:ext cx="100584" cy="100584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77856" y="329184"/>
            <a:ext cx="141732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05E5C"/>
                </a:solidFill>
                <a:latin typeface="Aptos"/>
              </a:rPr>
              <a:t>Microsoft Foundry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7955279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91F2C"/>
                </a:solidFill>
                <a:latin typeface="Aptos"/>
              </a:rPr>
              <a:t>Where this catalog 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34440"/>
            <a:ext cx="104241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05E5C"/>
                </a:solidFill>
                <a:latin typeface="Aptos"/>
              </a:rPr>
              <a:t>Build in GitHub. Run and improve in Foundry. Reach users through channels you already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1828800" cy="3703320"/>
          </a:xfrm>
          <a:prstGeom prst="roundRect">
            <a:avLst/>
          </a:prstGeom>
          <a:solidFill>
            <a:srgbClr val="091F2C"/>
          </a:solidFill>
          <a:ln>
            <a:solidFill>
              <a:srgbClr val="09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84831"/>
            <a:ext cx="1389888" cy="585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BUILD 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852928"/>
            <a:ext cx="1389888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ptos"/>
              </a:rPr>
              <a:t>Code · prompts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ptos"/>
              </a:rPr>
              <a:t>skills · graphs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ptos"/>
              </a:rPr>
              <a:t>evaluation assets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675887"/>
            <a:ext cx="1426464" cy="384048"/>
          </a:xfrm>
          <a:prstGeom prst="roundRect">
            <a:avLst/>
          </a:prstGeom>
          <a:solidFill>
            <a:srgbClr val="F3F1F8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694175"/>
            <a:ext cx="128016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04 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096511"/>
            <a:ext cx="1426464" cy="384048"/>
          </a:xfrm>
          <a:prstGeom prst="roundRect">
            <a:avLst/>
          </a:prstGeom>
          <a:solidFill>
            <a:srgbClr val="F3F1F8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114799"/>
            <a:ext cx="128016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05A  Agents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517136"/>
            <a:ext cx="1426464" cy="384048"/>
          </a:xfrm>
          <a:prstGeom prst="roundRect">
            <a:avLst/>
          </a:prstGeom>
          <a:solidFill>
            <a:srgbClr val="F3F1F8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535423"/>
            <a:ext cx="128016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05B 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4937759"/>
            <a:ext cx="1426464" cy="384048"/>
          </a:xfrm>
          <a:prstGeom prst="roundRect">
            <a:avLst/>
          </a:prstGeom>
          <a:solidFill>
            <a:srgbClr val="F3F1F8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956047"/>
            <a:ext cx="128016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15  Lifecycle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06624" y="1755648"/>
            <a:ext cx="6784848" cy="3858768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254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6624" y="1755648"/>
            <a:ext cx="6784848" cy="530352"/>
          </a:xfrm>
          <a:prstGeom prst="rect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1874519"/>
            <a:ext cx="634593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RUN + IMPROVE IN FOUNDRY — THE AGENT FACTORY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587752"/>
            <a:ext cx="84124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CONTEXT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2514600"/>
            <a:ext cx="15087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77056" y="2532888"/>
            <a:ext cx="136245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03  Microsoft IQ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77256" y="2514600"/>
            <a:ext cx="15087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2532888"/>
            <a:ext cx="136245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10  Memory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50608" y="2514600"/>
            <a:ext cx="15087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2532888"/>
            <a:ext cx="136245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12  Toolboxes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300984"/>
            <a:ext cx="84124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3227832"/>
            <a:ext cx="22402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77056" y="3246120"/>
            <a:ext cx="209397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02  Agent Service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3227832"/>
            <a:ext cx="22402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3246120"/>
            <a:ext cx="209397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09  Cross-cloud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07792" y="4014216"/>
            <a:ext cx="84124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GOVERN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03904" y="3941064"/>
            <a:ext cx="15087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77056" y="3959352"/>
            <a:ext cx="136245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01  AI Gateway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77256" y="3941064"/>
            <a:ext cx="15087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3959352"/>
            <a:ext cx="136245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08  AI Safety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50608" y="3941064"/>
            <a:ext cx="15087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0" y="3959352"/>
            <a:ext cx="136245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13  Approval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7792" y="4727448"/>
            <a:ext cx="84124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661C5"/>
                </a:solidFill>
                <a:latin typeface="Aptos Mono"/>
              </a:rPr>
              <a:t>IMPROVE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03904" y="4654296"/>
            <a:ext cx="111556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77056" y="4672583"/>
            <a:ext cx="96926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06  Observability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84064" y="4654296"/>
            <a:ext cx="111556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4672583"/>
            <a:ext cx="96926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07  Eval gate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64224" y="4654296"/>
            <a:ext cx="111556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37376" y="4672583"/>
            <a:ext cx="96926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11  Cost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44383" y="4654296"/>
            <a:ext cx="111556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17536" y="4672583"/>
            <a:ext cx="96926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91F2C"/>
                </a:solidFill>
                <a:latin typeface="Aptos"/>
              </a:rPr>
              <a:t>14  Adaptation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50592" y="3310128"/>
            <a:ext cx="182880" cy="384048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528048" y="3310128"/>
            <a:ext cx="182880" cy="384048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747504" y="1828800"/>
            <a:ext cx="1883664" cy="3703320"/>
          </a:xfrm>
          <a:prstGeom prst="roundRect">
            <a:avLst/>
          </a:prstGeom>
          <a:solidFill>
            <a:srgbClr val="F3F1F8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66960" y="2103120"/>
            <a:ext cx="1444752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661C5"/>
                </a:solidFill>
                <a:latin typeface="Aptos"/>
              </a:rPr>
              <a:t>SURFACE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66960" y="2743200"/>
            <a:ext cx="1444752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91F2C"/>
                </a:solidFill>
                <a:latin typeface="Aptos"/>
              </a:rPr>
              <a:t>Apps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91F2C"/>
                </a:solidFill>
                <a:latin typeface="Aptos"/>
              </a:rPr>
              <a:t>APIs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91F2C"/>
                </a:solidFill>
                <a:latin typeface="Aptos"/>
              </a:rPr>
              <a:t>Teams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91F2C"/>
                </a:solidFill>
                <a:latin typeface="Aptos"/>
              </a:rPr>
              <a:t>M365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91F2C"/>
                </a:solidFill>
                <a:latin typeface="Aptos"/>
              </a:rPr>
              <a:t>other channels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4617720"/>
            <a:ext cx="1444752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05E5C"/>
                </a:solidFill>
                <a:latin typeface="Aptos"/>
              </a:rPr>
              <a:t>Use the channels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05E5C"/>
                </a:solidFill>
                <a:latin typeface="Aptos"/>
              </a:rPr>
              <a:t>your users already own.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71216" y="5760720"/>
            <a:ext cx="64922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5E5C"/>
                </a:solidFill>
                <a:latin typeface="Aptos Mono"/>
              </a:rPr>
              <a:t>Primary placement only — the patterns compose across the lifecycle.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00800"/>
            <a:ext cx="11064240" cy="9144"/>
          </a:xfrm>
          <a:prstGeom prst="rect">
            <a:avLst/>
          </a:prstGeom>
          <a:solidFill>
            <a:srgbClr val="D2D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5E5C"/>
                </a:solidFill>
                <a:latin typeface="Aptos Mono"/>
              </a:rPr>
              <a:t>Microsoft Foundry Patterns  ·  subject to change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5E5C"/>
                </a:solidFill>
                <a:latin typeface="Aptos Mono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