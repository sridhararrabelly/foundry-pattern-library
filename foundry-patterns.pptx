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72" r:id="rId5"/>
    <p:sldId id="273" r:id="rId6"/>
    <p:sldId id="266" r:id="rId7"/>
    <p:sldId id="274" r:id="rId8"/>
    <p:sldId id="260" r:id="rId9"/>
    <p:sldId id="261" r:id="rId10"/>
    <p:sldId id="276" r:id="rId11"/>
    <p:sldId id="268" r:id="rId13"/>
    <p:sldId id="277" r:id="rId14"/>
    <p:sldId id="262" r:id="rId12"/>
    <p:sldId id="263" r:id="rId15"/>
    <p:sldId id="267" r:id="rId16"/>
    <p:sldId id="275" r:id="rId17"/>
    <p:sldId id="265" r:id="rId19"/>
    <p:sldId id="264" r:id="rId18"/>
    <p:sldId id="269" r:id="rId20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17.xml"/><Relationship Id="rId20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3724-54E5-4DF4-8FF7-81F9185758A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C589E-DFF3-40E2-BF66-B2735D0DA03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432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895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77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60520" y="822960"/>
            <a:ext cx="306141" cy="30614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12747" y="822960"/>
            <a:ext cx="306141" cy="30614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60520" y="1175187"/>
            <a:ext cx="306141" cy="30614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47" y="1175187"/>
            <a:ext cx="306141" cy="30614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8616" y="7680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Microsoft Foundry Patterns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Runnable patterns for building, governing and operating agents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Build in GitHub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Run in Foundry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Reach in M365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4800600"/>
            <a:ext cx="3227832" cy="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12 patterns   ·   12 demos   ·   for architects &amp; principal engineers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10551" cy="11055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4121" y="310896"/>
            <a:ext cx="110551" cy="11055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438089"/>
            <a:ext cx="110551" cy="11055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121" y="438089"/>
            <a:ext cx="110551" cy="11055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56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your gateway and cloud — add the agent factory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 gateway gives you MODEL ACCESS.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LiteLLM gateway (or Azure API Management) is the right pattern for that — one OpenAI-compatible endpoint, keys, budgets, routing across providers.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2651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gives you the AGENT FACTORY.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The runtime (Plan / Act / Observe), grounding (Microsoft IQ), identity, evaluation, tracing, memory, caching and safety plane AROUND the models — exactly the depth a homegrown factory lacks.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4434840"/>
            <a:ext cx="32004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gateway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LiteLLM / APIM — model access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32120" y="443484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77840" y="4434840"/>
            <a:ext cx="566928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— the agent factory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· Microsoft IQ · identity · eval · tracing · safety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0" y="4956048"/>
            <a:ext cx="1325880" cy="914"/>
          </a:xfrm>
          <a:prstGeom prst="line">
            <a:avLst/>
          </a:prstGeom>
          <a:noFill/>
          <a:ln w="31750">
            <a:solidFill>
              <a:srgbClr val="866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6052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add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10551" cy="11055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4121" y="310896"/>
            <a:ext cx="110551" cy="11055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438089"/>
            <a:ext cx="110551" cy="11055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121" y="438089"/>
            <a:ext cx="110551" cy="11055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56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Run-of-show — four groups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66928" y="1572768"/>
          <a:ext cx="5440680" cy="418795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 FOUNDATION &amp; GOVERNANCE</a:t>
                      </a:r>
                      <a:endParaRPr lang="en-US" sz="1100" b="1" dirty="0">
                        <a:solidFill>
                          <a:srgbClr val="7854A3"/>
                        </a:solidFill>
                        <a:latin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gateway &amp; model access (APIM)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safety (Prompt Shields + Content Safety)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CONSTRUCTION &amp; KNOWLEDGE</a:t>
                      </a:r>
                      <a:endParaRPr lang="en-US" sz="1100" b="1" dirty="0">
                        <a:solidFill>
                          <a:srgbClr val="7854A3"/>
                        </a:solidFill>
                        <a:latin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Foundry Agent Service (prompt and hosted agents)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IQ — the intelligence layer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Centralized Toolboxes (one governed MCP endpoint)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charset="0"/>
                          <a:ea typeface="Segoe UI" charset="0"/>
                          <a:cs typeface="Segoe UI" charset="0"/>
                        </a:rPr>
                        <a:t>10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latin typeface="Segoe UI" charset="0"/>
                          <a:ea typeface="Segoe UI" charset="0"/>
                          <a:cs typeface="Segoe UI" charset="0"/>
                        </a:rPr>
                        <a:t>Memory (short-term + long-term)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766632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6309360" y="1572768"/>
          <a:ext cx="5321808" cy="418795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ORCHESTRATION &amp; INTEROPERABILITY</a:t>
                      </a:r>
                      <a:endParaRPr lang="en-US" sz="1100" b="1" dirty="0">
                        <a:solidFill>
                          <a:srgbClr val="7854A3"/>
                        </a:solidFill>
                        <a:latin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Agentic Loop (build skills, not agents)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Multi-agent orchestration (Agent Framework)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Cross-cloud interop (MCP / A2A)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LIFECYCLE, ASSURANCE &amp; OPERATIONS</a:t>
                      </a:r>
                      <a:endParaRPr lang="en-US" sz="1100" b="1" dirty="0">
                        <a:solidFill>
                          <a:srgbClr val="7854A3"/>
                        </a:solidFill>
                        <a:latin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Evaluation &amp; release gate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Observability &amp; tracing (OpenTelemetry)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7854A3"/>
                          </a:solidFill>
                          <a:latin typeface="Segoe UI" charset="0"/>
                          <a:ea typeface="Segoe UI" charset="0"/>
                          <a:cs typeface="Segoe UI" charset="0"/>
                        </a:rPr>
                        <a:t>11</a:t>
                      </a:r>
                      <a:endParaRPr lang="en-US" sz="1200" b="1" dirty="0">
                        <a:solidFill>
                          <a:srgbClr val="7854A3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latin typeface="Segoe UI" charset="0"/>
                          <a:ea typeface="Segoe UI" charset="0"/>
                          <a:cs typeface="Segoe UI" charset="0"/>
                        </a:rPr>
                        <a:t>Cost &amp; latency (prompt cache + Model Router)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391649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Twelve patterns in four groups. One slide, one live demo each.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60520" y="822960"/>
            <a:ext cx="306141" cy="30614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12747" y="822960"/>
            <a:ext cx="306141" cy="30614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60520" y="1175187"/>
            <a:ext cx="306141" cy="30614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47" y="1175187"/>
            <a:ext cx="306141" cy="30614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8616" y="7680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Platform foundation &amp; governance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governed model access and safety controls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01  AI gateway &amp; model access (APIM)        ·        08  AI safety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4800600"/>
            <a:ext cx="3227832" cy="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Group 1 of 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24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gateway &amp; model access (APIM)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“The gateway gives you model access. Foundry gives you the agent factory.”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OpenAI-shaped call, keyless via Entra ID — 401 without a token, 200 with.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560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/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4F3F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0" y="3200400"/>
            <a:ext cx="26517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Gateway (APIM)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validate-azure-ad-token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23960" y="26974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gpt-5.4-mini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23960" y="4114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BF4EE"/>
          </a:solidFill>
          <a:ln w="15875">
            <a:solidFill>
              <a:srgbClr val="D89B6A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6968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other cloud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provider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83280" y="3703320"/>
            <a:ext cx="96012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46120" y="3310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token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 flipV="1">
            <a:off x="7086600" y="3108960"/>
            <a:ext cx="1737360" cy="45720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31455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86600" y="3840480"/>
            <a:ext cx="1737360" cy="640080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gateway stays — zero rip-and-replace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Reframes gateway as commodity; factory as the differentiation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APIM + Foundry composition — no rip-and-replace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safety (Prompt Shields + Content Safety)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“Your gateway checks tokens. Foundry checks the attack — even the one hidden in a document.”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LIVE + keyless: Prompt Shields blocks a direct jailbreak and a document-hidden XPIA; a clean question passes.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User turn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77640" y="320040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3200400"/>
            <a:ext cx="28346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Shields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jailbreak + indirect (XPIA)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75320" y="265176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E4F3EA"/>
          </a:solidFill>
          <a:ln w="13970">
            <a:solidFill>
              <a:srgbClr val="8FC79E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E7D4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 →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BF4EE"/>
          </a:solidFill>
          <a:ln w="15875">
            <a:solidFill>
              <a:srgbClr val="D89B6A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2560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doc — hidden XPIA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75320" y="420624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BE0DC"/>
          </a:solidFill>
          <a:ln w="15875">
            <a:solidFill>
              <a:srgbClr val="E5988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42B1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17520" y="3291840"/>
            <a:ext cx="960120" cy="22860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 flipV="1">
            <a:off x="3383280" y="3977640"/>
            <a:ext cx="594360" cy="365760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 flipV="1">
            <a:off x="6903720" y="3017520"/>
            <a:ext cx="1371600" cy="411480"/>
          </a:xfrm>
          <a:prstGeom prst="line">
            <a:avLst/>
          </a:prstGeom>
          <a:noFill/>
          <a:ln w="25400">
            <a:solidFill>
              <a:srgbClr val="2E7D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2999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2E7D4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allow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03720" y="3931920"/>
            <a:ext cx="1371600" cy="594360"/>
          </a:xfrm>
          <a:prstGeom prst="line">
            <a:avLst/>
          </a:prstGeom>
          <a:noFill/>
          <a:ln w="25400">
            <a:solidFill>
              <a:srgbClr val="C42B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40880" y="4315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42B1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deny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XPIA / indirect-injection defence — rarely built in-house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Entra Agent ID — scoped, conditional-access identity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Purview DSPM for AI — one DLP / audit plane across clouds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60520" y="822960"/>
            <a:ext cx="306141" cy="30614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12747" y="822960"/>
            <a:ext cx="306141" cy="30614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60520" y="1175187"/>
            <a:ext cx="306141" cy="30614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47" y="1175187"/>
            <a:ext cx="306141" cy="30614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8616" y="7680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Agent construction &amp; knowledge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Build agents with governed knowledge, tools and memory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02  Foundry Agent Service  ·  03  Microsoft IQ  ·  12  Toolboxes  ·  10  Memory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4800600"/>
            <a:ext cx="3227832" cy="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Group 2 of 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24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Foundry Agent Service (prompt and hosted agents)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“You didn't build a runtime, a vector store and an identity system. You called an API — or handed us a container.”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Two hosting models — declarative prompt agent + BYO-code hosted agent — both first-class, both with an Entra Agent ID.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2697480"/>
            <a:ext cx="26517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 · Prompt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rm-assistant-prompt (config)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17720" y="269748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 Service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23960" y="26974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0" y="2697480"/>
            <a:ext cx="26517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 · Hosted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rm-assistant-hosted (your code)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2651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File Search RAG + function tool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23960" y="37033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680" y="3703320"/>
            <a:ext cx="2651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container · Foundry-managed compute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66160" y="437083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11880" y="4370832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Entra Agent ID — governed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66560" y="437083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12280" y="4370832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Portal: chat · logs · versions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83280" y="3086100"/>
            <a:ext cx="123444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 flipH="1">
            <a:off x="7589520" y="3086100"/>
            <a:ext cx="123444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2011680" y="3474720"/>
            <a:ext cx="914" cy="22860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 flipV="1">
            <a:off x="10195560" y="3474720"/>
            <a:ext cx="914" cy="22860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 flipH="1">
            <a:off x="4937760" y="3474720"/>
            <a:ext cx="640080" cy="89611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629400" y="3474720"/>
            <a:ext cx="1463040" cy="89611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Prompt-based: model + instructions + tools; File Search RAG (managed vector store)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Hosted: your container on Foundry-managed compute — any framework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Entra Agent ID — governable identity per agent, not a shared IAM role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IQ — the intelligence layer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“Web IQ grounds you in the world. Foundry IQ in your enterprise. Work IQ in how your org operates. Fabric IQ in what your business data means.”</a:t>
            </a:r>
            <a:endParaRPr kumimoji="0" lang="en-US" sz="1450" b="1" i="1" u="none" strike="noStrike" kern="1200" cap="none" spc="0" normalizeH="0" baseline="0" noProof="0" dirty="0">
              <a:ln>
                <a:noFill/>
              </a:ln>
              <a:solidFill>
                <a:srgbClr val="8661C5"/>
              </a:solidFill>
              <a:effectLst/>
              <a:uLnTx/>
              <a:uFillTx/>
              <a:latin typeface="Segoe UI Semibold" pitchFamily="34" charset="0"/>
              <a:ea typeface="+mn-ea"/>
              <a:cs typeface="Segoe UI Semibold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Web IQ via APIM + Azure AI Search via a Foundry agent — both live, both cited.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MCP client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Copilot · Bedrock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77640" y="30632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Gateway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4F3F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MCP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60920" y="243230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06640" y="243230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Web IQ — LIVE via APIM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60920" y="307238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8661C5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307238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-120"/>
              </a:rPr>
              <a:t>Azure AI Search — LIVE enterprise index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srgbClr val="8661C5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60920" y="371246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06640" y="371246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 — managed KB (NARRATED)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60920" y="435254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06640" y="435254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Fabric IQ + Work IQ — NARRATED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315968"/>
            <a:ext cx="2971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APIM subscription key</a:t>
            </a: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Web IQ key stays on gateway</a:t>
            </a:r>
          </a:p>
        </p:txBody>
      </p:sp>
      <p:sp>
        <p:nvSpPr>
          <p:cNvPr id="28" name="Shape 26"/>
          <p:cNvSpPr/>
          <p:nvPr/>
        </p:nvSpPr>
        <p:spPr>
          <a:xfrm>
            <a:off x="3291840" y="3520440"/>
            <a:ext cx="68580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 flipV="1">
            <a:off x="6492240" y="2715768"/>
            <a:ext cx="868680" cy="621792"/>
          </a:xfrm>
          <a:prstGeom prst="line">
            <a:avLst/>
          </a:prstGeom>
          <a:noFill/>
          <a:ln w="22225">
            <a:solidFill>
              <a:srgbClr val="866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6492240" y="3355848"/>
            <a:ext cx="868680" cy="118872"/>
          </a:xfrm>
          <a:prstGeom prst="line">
            <a:avLst/>
          </a:prstGeom>
          <a:noFill/>
          <a:ln w="22225">
            <a:solidFill>
              <a:srgbClr val="866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868680" cy="384048"/>
          </a:xfrm>
          <a:prstGeom prst="line">
            <a:avLst/>
          </a:prstGeom>
          <a:noFill/>
          <a:ln w="22225">
            <a:solidFill>
              <a:srgbClr val="8661C5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3749040"/>
            <a:ext cx="868680" cy="886968"/>
          </a:xfrm>
          <a:prstGeom prst="line">
            <a:avLst/>
          </a:prstGeom>
          <a:noFill/>
          <a:ln w="22225">
            <a:solidFill>
              <a:srgbClr val="8661C5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20240" y="3977640"/>
            <a:ext cx="914" cy="338328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10312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Basic v2 exception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Web IQ on APIM — authenticated, metered, upstream key retained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AzureAISearchTool — project connection + cited enterprise index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IQ, Fabric IQ and Work IQ — broader narrated layers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360920" y="2139696"/>
            <a:ext cx="397763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661C5"/>
                </a:solidFill>
                <a:latin typeface="Aptos"/>
              </a:rPr>
              <a:t>SOLID = LIVE    ·    DASHED = NARRATED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Centralized Toolboxes (one governed MCP endpoint)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“You don’t wire tools to agents. You run a tool plane — and the agents subscribe.”</a:t>
            </a:r>
            <a:endParaRPr kumimoji="0" lang="en-US" sz="1450" b="1" i="1" u="none" strike="noStrike" kern="1200" cap="none" spc="0" normalizeH="0" baseline="0" noProof="0" dirty="0">
              <a:ln>
                <a:noFill/>
              </a:ln>
              <a:solidFill>
                <a:srgbClr val="8661C5"/>
              </a:solidFill>
              <a:effectLst/>
              <a:uLnTx/>
              <a:uFillTx/>
              <a:latin typeface="Segoe UI Semibold" pitchFamily="34" charset="0"/>
              <a:ea typeface="+mn-ea"/>
              <a:cs typeface="Segoe UI Semibold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Curate tools once behind one MCP endpoint; promote a version and every agent follows — nothing redeployed.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Copilot · LangGraph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77640" y="30632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Toolbox</a:t>
            </a: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MCP endpoint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60920" y="243230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06640" y="243230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— incl. APIM Web IQ (Pattern 3)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60920" y="307238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307238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-120"/>
              </a:rPr>
              <a:t>Code Interpreter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60920" y="371246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06640" y="371246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-120"/>
              </a:rPr>
              <a:t>Tool search — 4 defs → 2 meta-tools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60920" y="4352544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06640" y="4352544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Skills (preview)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315968"/>
            <a:ext cx="2971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a version → default</a:t>
            </a: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redeployed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91840" y="3520440"/>
            <a:ext cx="68580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 flipV="1">
            <a:off x="6492240" y="2715768"/>
            <a:ext cx="868680" cy="62179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6492240" y="3355848"/>
            <a:ext cx="868680" cy="11887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868680" cy="384048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3749040"/>
            <a:ext cx="868680" cy="886968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20240" y="3977640"/>
            <a:ext cx="914" cy="338328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10312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endpoint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endpoint, not N integrations — swap a tool without touching agent 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held server-side; guardrails applied at the toolbox level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Tool search — a hundred tools without a hundred tool definitions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72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Memory (short-term + long-term)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“A stateless agent meets every client as a stranger. Memory turns transactions into a relationship.”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per-user Memory Store; the RM assistant recalls the client's risk appetite across sessions — remember / forget on command.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54203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· devices · workflows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2606040" cy="841248"/>
          </a:xfrm>
          <a:prstGeom prst="roundRect">
            <a:avLst>
              <a:gd name="adj" fmla="val 8696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251460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rm-assistant-memory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977640" y="269748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2697480"/>
            <a:ext cx="29718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based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CE1F8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In-session recall · short-term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77640" y="361188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0" y="3611880"/>
            <a:ext cx="297180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Memory Store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4F3F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· cross-session · long-term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18120" y="324612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63840" y="3246120"/>
            <a:ext cx="33832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Recalls preferences + history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77640" y="457200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23360" y="4572000"/>
            <a:ext cx="2971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scope = user · TTL · remember / forget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0" y="2999232"/>
            <a:ext cx="914" cy="246888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 flipV="1">
            <a:off x="3337560" y="3072384"/>
            <a:ext cx="640080" cy="448056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37560" y="3749040"/>
            <a:ext cx="640080" cy="27432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040880" y="3108960"/>
            <a:ext cx="777240" cy="45720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7040880" y="3749040"/>
            <a:ext cx="777240" cy="27432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504688" y="4453128"/>
            <a:ext cx="914" cy="11887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Two memory types, short-term (session) + long-term (store)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scope + TTL — isolation and retention by policy, not by hand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Continuity across sessions, devices and workflows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60520" y="822960"/>
            <a:ext cx="306141" cy="30614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12747" y="822960"/>
            <a:ext cx="306141" cy="30614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60520" y="1175187"/>
            <a:ext cx="306141" cy="30614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47" y="1175187"/>
            <a:ext cx="306141" cy="30614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8616" y="7680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Orchestration &amp; interoperability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Compose skills, specialists and cross-cloud systems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04  Agentic Loop   ·   05  Multi-agent orchestration   ·   09  Cross-cloud interop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4800600"/>
            <a:ext cx="3227832" cy="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Group 3 of 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58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Agentic Loop (build skills, not agents)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“Don't orchestrate fifty agents. Give one good loop the right skills — and let it reason.”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Plan / Act / Observe loop, N skills-as-folders; engine swapped to Copilot SDK BYOM.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88720" y="31546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444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Reason (Plan)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31546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9204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Act — skill / tool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CE1F8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03920" y="31546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4964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48716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9204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 × 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0" y="3566160"/>
            <a:ext cx="118872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5200" y="3566160"/>
            <a:ext cx="118872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0760" y="2990088"/>
            <a:ext cx="914" cy="16459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 flipH="1">
            <a:off x="2423160" y="4160520"/>
            <a:ext cx="7315200" cy="914"/>
          </a:xfrm>
          <a:prstGeom prst="line">
            <a:avLst/>
          </a:prstGeom>
          <a:noFill/>
          <a:ln w="22225">
            <a:solidFill>
              <a:srgbClr val="866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738360" y="3977640"/>
            <a:ext cx="0" cy="182880"/>
          </a:xfrm>
          <a:prstGeom prst="line">
            <a:avLst/>
          </a:prstGeom>
          <a:noFill/>
          <a:ln w="22225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423160" y="3977640"/>
            <a:ext cx="0" cy="182880"/>
          </a:xfrm>
          <a:prstGeom prst="line">
            <a:avLst/>
          </a:prstGeom>
          <a:noFill/>
          <a:ln w="22225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2064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loop back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83280" y="4485554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29000" y="4485554"/>
            <a:ext cx="5303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Engine: Copilot SDK BYOM — your Azure model + billing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One loop to maintain vs a brittle handoff graph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Skills portable across tools / models; add one in minutes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BYOM — proven Copilot loop, your model + your billing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Multi-agent orchestration (Agent Framework)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“Orchestrate specialists when the problem is genuinely parallel — not because a framework let you.”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specialists, published as one Foundry-managed Responses endpoint.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Foundry-hosted endpoint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Analyst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406908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Officer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06840" y="32461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5256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Fan-in result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 flipV="1">
            <a:off x="3291840" y="2971800"/>
            <a:ext cx="1371600" cy="59436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91840" y="3840480"/>
            <a:ext cx="1371600" cy="59436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0" y="2971800"/>
            <a:ext cx="1234440" cy="59436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 flipV="1">
            <a:off x="7772400" y="3840480"/>
            <a:ext cx="1234440" cy="59436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0" y="2999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orchestration (concurrent / sequential / handoff / Magentic)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endpoint · compute · versions · Entra Agent ID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guidance: default to Pattern 4; escalate when earned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Cross-cloud interop (MCP / A2A)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“Bedrock runs an agent. Foundry runs the agent factory. MCP and A2A let each cloud do what it's best at.”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 calls an AWS tool over MCP (mock Lambda); A2A hands off to a Bedrock agent.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4709160" cy="2240280"/>
          </a:xfrm>
          <a:prstGeom prst="roundRect">
            <a:avLst>
              <a:gd name="adj" fmla="val 3265"/>
            </a:avLst>
          </a:prstGeom>
          <a:solidFill>
            <a:srgbClr val="F2ECFA"/>
          </a:solidFill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Azure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417320" y="32918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291840"/>
            <a:ext cx="30632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12280" y="2606040"/>
            <a:ext cx="4800600" cy="2240280"/>
          </a:xfrm>
          <a:prstGeom prst="roundRect">
            <a:avLst>
              <a:gd name="adj" fmla="val 3265"/>
            </a:avLst>
          </a:prstGeom>
          <a:solidFill>
            <a:srgbClr val="FBF3EB"/>
          </a:solidFill>
          <a:ln w="12700">
            <a:solidFill>
              <a:srgbClr val="D89B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B5732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35240" y="306324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BF4EE"/>
          </a:solidFill>
          <a:ln w="15875">
            <a:solidFill>
              <a:srgbClr val="D89B6A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0" y="3063240"/>
            <a:ext cx="3474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AWS tool — Lambda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35240" y="4041648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BF4EE"/>
          </a:solidFill>
          <a:ln w="15875">
            <a:solidFill>
              <a:srgbClr val="D89B6A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4041648"/>
            <a:ext cx="3474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Amazon Bedrock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40680" y="3429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0" y="342900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MCP / A2A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86868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 flipV="1">
            <a:off x="6858000" y="3401568"/>
            <a:ext cx="777240" cy="21031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858000" y="3931920"/>
            <a:ext cx="777240" cy="457200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20840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A2A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Wrap, don't rewrite — call AWS tools from Foundry via MCP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A2A hand-off exposes Foundry agents to Bedrock and back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overlay (Entra + Purview) spans both clouds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60520" y="822960"/>
            <a:ext cx="306141" cy="306141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12747" y="822960"/>
            <a:ext cx="306141" cy="306141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60520" y="1175187"/>
            <a:ext cx="306141" cy="306141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2747" y="1175187"/>
            <a:ext cx="306141" cy="306141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8616" y="76809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Lifecycle, assurance &amp; operations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Evaluate, observe and optimize every release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07  Evaluation &amp; release gate   ·   06  Observability   ·   11  Cost &amp; latency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4800600"/>
            <a:ext cx="3227832" cy="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Group 4 of 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221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Evaluation &amp; release gate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“If you can't score it, you can't ship it safely — and you can't optimize it.”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candidate answers, score in Foundry, fail closed; demo mode plants one regression.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24231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set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+ policy context</a:t>
            </a:r>
          </a:p>
        </p:txBody>
      </p:sp>
      <p:sp>
        <p:nvSpPr>
          <p:cNvPr id="16" name="Shape 14"/>
          <p:cNvSpPr/>
          <p:nvPr/>
        </p:nvSpPr>
        <p:spPr>
          <a:xfrm>
            <a:off x="3520440" y="29718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 + model</a:t>
            </a:r>
          </a:p>
        </p:txBody>
      </p:sp>
      <p:sp>
        <p:nvSpPr>
          <p:cNvPr id="18" name="Shape 16"/>
          <p:cNvSpPr/>
          <p:nvPr/>
        </p:nvSpPr>
        <p:spPr>
          <a:xfrm>
            <a:off x="5669280" y="288036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15000" y="2880360"/>
            <a:ext cx="2697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groundedness · relevance · coherence</a:t>
            </a:r>
          </a:p>
        </p:txBody>
      </p:sp>
      <p:sp>
        <p:nvSpPr>
          <p:cNvPr id="20" name="Shape 18"/>
          <p:cNvSpPr/>
          <p:nvPr/>
        </p:nvSpPr>
        <p:spPr>
          <a:xfrm>
            <a:off x="8869680" y="29718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1540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CI gate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54680" y="3291840"/>
            <a:ext cx="36576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303520" y="3291840"/>
            <a:ext cx="36576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58200" y="3291840"/>
            <a:ext cx="41148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0" y="411480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15000" y="4114800"/>
            <a:ext cx="2697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— Evaluations tab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59168" y="3703320"/>
            <a:ext cx="914" cy="411480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69680" y="41148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BE0DC"/>
          </a:solidFill>
          <a:ln w="15875">
            <a:solidFill>
              <a:srgbClr val="E5988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1540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C42B1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FAIL → blocks merge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95560" y="3611880"/>
            <a:ext cx="914" cy="502920"/>
          </a:xfrm>
          <a:prstGeom prst="line">
            <a:avLst/>
          </a:prstGeom>
          <a:noFill/>
          <a:ln w="25400">
            <a:solidFill>
              <a:srgbClr val="C42B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Agent-grade evaluators (groundedness, tool-call, intent)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answers are generated before cloud evaluation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Scoped CI gate — relevant regressions can't merge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Observability &amp; tracing (OpenTelemetry)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“A real Foundry agent, then one traced turn — same run in the portal AND App Insights. And it's OTel, so it's yours.”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Metadata-only OTel trace in Foundry + App Insights; content requires explicit opt-in.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2487168"/>
            <a:ext cx="2450592" cy="658368"/>
          </a:xfrm>
          <a:prstGeom prst="roundRect">
            <a:avLst>
              <a:gd name="adj" fmla="val 11111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23591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7C9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rm-assistant-traced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01568" y="2487168"/>
            <a:ext cx="2450592" cy="658368"/>
          </a:xfrm>
          <a:prstGeom prst="roundRect">
            <a:avLst>
              <a:gd name="adj" fmla="val 11111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47288" y="2487168"/>
            <a:ext cx="23591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invoke_agent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17336" y="2487168"/>
            <a:ext cx="2450592" cy="658368"/>
          </a:xfrm>
          <a:prstGeom prst="roundRect">
            <a:avLst>
              <a:gd name="adj" fmla="val 11111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63056" y="2487168"/>
            <a:ext cx="23591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Tool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33104" y="2487168"/>
            <a:ext cx="2450592" cy="658368"/>
          </a:xfrm>
          <a:prstGeom prst="roundRect">
            <a:avLst>
              <a:gd name="adj" fmla="val 11111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78824" y="2487168"/>
            <a:ext cx="23591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36392" y="2816352"/>
            <a:ext cx="265176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2160" y="2816352"/>
            <a:ext cx="265176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67928" y="2816352"/>
            <a:ext cx="265176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31920" y="3456432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77640" y="3456432"/>
            <a:ext cx="42062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spans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only · tokens · latency</a:t>
            </a:r>
          </a:p>
        </p:txBody>
      </p:sp>
      <p:sp>
        <p:nvSpPr>
          <p:cNvPr id="27" name="Shape 25"/>
          <p:cNvSpPr/>
          <p:nvPr/>
        </p:nvSpPr>
        <p:spPr>
          <a:xfrm>
            <a:off x="4626864" y="3145536"/>
            <a:ext cx="859536" cy="310896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 flipH="1">
            <a:off x="6309360" y="3145536"/>
            <a:ext cx="411480" cy="310896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5800" y="4370832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4370832"/>
            <a:ext cx="3200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— Agents + Tracing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53128" y="4370832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98848" y="4370832"/>
            <a:ext cx="3200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20456" y="4370832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BF4EE"/>
          </a:solidFill>
          <a:ln w="15875">
            <a:solidFill>
              <a:srgbClr val="D89B6A"/>
            </a:solidFill>
            <a:prstDash val="dash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66176" y="4370832"/>
            <a:ext cx="3200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Datadog / Grafana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 flipH="1">
            <a:off x="2331720" y="4169664"/>
            <a:ext cx="2971800" cy="201168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80760" y="4169664"/>
            <a:ext cx="18288" cy="201168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58000" y="4169664"/>
            <a:ext cx="3008376" cy="201168"/>
          </a:xfrm>
          <a:prstGeom prst="line">
            <a:avLst/>
          </a:prstGeom>
          <a:noFill/>
          <a:ln w="22225">
            <a:solidFill>
              <a:srgbClr val="8A8886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 shows in the Agents list; run traced server-side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Token + latency telemetry · rate-card cost by agent/version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— portable to Datadog / Grafana, no lock-in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48672" y="384048"/>
            <a:ext cx="102047" cy="102047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66081" y="384048"/>
            <a:ext cx="102047" cy="102047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48672" y="501457"/>
            <a:ext cx="102047" cy="102047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66081" y="501457"/>
            <a:ext cx="102047" cy="102047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77856" y="329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60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088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PATTERN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36576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 &amp; latency (prompt cache + Model Router)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1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“The cheapest, fastest token is the one you never send to the model twice.”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04825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7904" y="20482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Same long prompt twice → the 2nd call is a prompt-cache hit; Model Router downshifts a trivial prompt; token metrics in App Insights.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091F2C"/>
          </a:solidFill>
          <a:ln w="12700">
            <a:solidFill>
              <a:srgbClr val="091F2C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63240" y="31546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08960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Gateway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E4F3F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cache · hit / miss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Model Router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15400" y="3154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661C5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cache · cached input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0" y="3611880"/>
            <a:ext cx="50292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3611880"/>
            <a:ext cx="50292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58200" y="3611880"/>
            <a:ext cx="457200" cy="914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68880" y="437083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14600" y="4370832"/>
            <a:ext cx="3931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cache: up to 100% off input (PTU)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675120" y="437083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ECEBF3"/>
          </a:solidFill>
          <a:ln w="12700">
            <a:solidFill>
              <a:srgbClr val="E5E1EF"/>
            </a:solidFill>
            <a:prstDash val="solid"/>
          </a:ln>
          <a:effectLst>
            <a:outerShdw blurRad="76200" dist="25400" dir="8100000" algn="bl" rotWithShape="0">
              <a:srgbClr val="8A8886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20840" y="4370832"/>
            <a:ext cx="3931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Token metrics + budgets → App Insights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89120" y="4069080"/>
            <a:ext cx="914" cy="30175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 flipH="1">
            <a:off x="8686800" y="4069080"/>
            <a:ext cx="1508760" cy="301752"/>
          </a:xfrm>
          <a:prstGeom prst="line">
            <a:avLst/>
          </a:prstGeom>
          <a:noFill/>
          <a:ln w="22225">
            <a:solidFill>
              <a:srgbClr val="8A88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FOUNDRY GIVES YOU HERE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9808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caching — cached input tokens discounted, up to 100% off on Provisioned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25112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26280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27448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cache at the gateway — serve equivalent prompts with no model call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01584" y="5340096"/>
            <a:ext cx="3538728" cy="932688"/>
          </a:xfrm>
          <a:prstGeom prst="roundRect">
            <a:avLst>
              <a:gd name="adj" fmla="val 5882"/>
            </a:avLst>
          </a:prstGeom>
          <a:solidFill>
            <a:srgbClr val="F3F1F8"/>
          </a:solidFill>
          <a:ln w="12700">
            <a:solidFill>
              <a:srgbClr val="E5E1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02752" y="5650992"/>
            <a:ext cx="109728" cy="109728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03920" y="5340096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Model Router + PTU — cost-aware model choice per prompt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Patterns  ·  subject to change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155680" y="6455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9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661C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9055" cy="119055"/>
          </a:xfrm>
          <a:prstGeom prst="rect">
            <a:avLst/>
          </a:prstGeom>
          <a:solidFill>
            <a:srgbClr val="F25022"/>
          </a:solidFill>
          <a:ln w="6350">
            <a:solidFill>
              <a:srgbClr val="F250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3905" y="365760"/>
            <a:ext cx="119055" cy="119055"/>
          </a:xfrm>
          <a:prstGeom prst="rect">
            <a:avLst/>
          </a:prstGeom>
          <a:solidFill>
            <a:srgbClr val="7FBA00"/>
          </a:solidFill>
          <a:ln w="6350">
            <a:solidFill>
              <a:srgbClr val="7FBA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502737"/>
            <a:ext cx="119055" cy="119055"/>
          </a:xfrm>
          <a:prstGeom prst="rect">
            <a:avLst/>
          </a:prstGeom>
          <a:solidFill>
            <a:srgbClr val="00A4E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3905" y="502737"/>
            <a:ext cx="119055" cy="119055"/>
          </a:xfrm>
          <a:prstGeom prst="rect">
            <a:avLst/>
          </a:prstGeom>
          <a:solidFill>
            <a:srgbClr val="FFB900"/>
          </a:solidFill>
          <a:ln w="63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2688" y="310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Coexistence — and the close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Your other cloud runs an agent. Foundry runs the agent FACTORY. MCP + A2A join the two.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Keep your existing stack where it works · add Foundry where you have gaps (identity, eval, tracing, grounding, safety) · unify governance with Purview and Agent 365 across your estate.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39319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 +  AI Gateway  +  Agentic Patterns.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Platform. Governance at scale. The fastest path to business value.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5943600"/>
            <a:ext cx="7863840" cy="0"/>
          </a:xfrm>
          <a:prstGeom prst="line">
            <a:avLst/>
          </a:prstGeom>
          <a:noFill/>
          <a:ln w="15875">
            <a:solidFill>
              <a:srgbClr val="8661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pattern library  ·  github.com/SridharArrabelly/foundry-pattern-library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Microsoft Office PowerPoint</Application>
  <PresentationFormat>Widescreen</PresentationFormat>
  <Paragraphs>392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Segoe UI</vt:lpstr>
      <vt:lpstr>Segoe UI Semibold</vt:lpstr>
      <vt:lpstr>Segoe UI Semilight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Arrabelly</dc:creator>
  <cp:lastModifiedBy>Sridhar Arrabelly</cp:lastModifiedBy>
  <cp:revision>1</cp:revision>
  <dcterms:created xsi:type="dcterms:W3CDTF">2026-08-23T09:51:01Z</dcterms:created>
  <dcterms:modified xsi:type="dcterms:W3CDTF">2026-08-23T09:51:32Z</dcterms:modified>
</cp:coreProperties>
</file>