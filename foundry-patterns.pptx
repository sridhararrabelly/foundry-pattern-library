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2" r:id="rId16"/>
    <p:sldId id="268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68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3D8388-66E7-4CE9-A387-CDE62551326B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DE862B-10C0-4280-B04F-B3C69592C41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359242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8935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7182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6771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3180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036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6981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9612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930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2389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2981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6934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0993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1884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5366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9088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327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6D73E-7092-CE1F-E569-C855457D3B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B92AD7-A081-DD6D-0C62-E27DEE74E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6AAF23-E51C-4FEA-3AD1-47D92F9763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02FA4-0071-4220-B149-52A85ADD9EF9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9297C-A3B9-7561-8750-45CAFDE89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662C2-8E60-A890-06F0-756113986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753B-82A5-43E0-A753-2AA38D42C5D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064641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C8E2B-CF1E-556C-1C1A-65622A295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C924A-7763-3250-C939-5DE69B8E31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B0359-8548-05AF-C751-4BE6A8A00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02FA4-0071-4220-B149-52A85ADD9EF9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3EACE-07FD-F652-3B3B-603DC206A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38385-B6EE-30F5-417D-6B341F4CA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753B-82A5-43E0-A753-2AA38D42C5D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85321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0188A-25ED-9EE8-EE64-221816527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56B456-3308-DDA9-56AB-0E821B8199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BAF225-467D-4B3F-9AC1-5A6AAC52A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02FA4-0071-4220-B149-52A85ADD9EF9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6B2C7-1572-DED9-3C4E-8729A872D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41E5-12D5-5F42-D699-BD8BBC1ED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753B-82A5-43E0-A753-2AA38D42C5D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082231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CBCCA-EDD8-7B00-73A8-C639625EC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5D7A2-E859-C6DE-975E-50BA89568C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ABE365-90F0-5BCA-2FEF-DACF32B514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84B2BC-2863-934C-7781-FB8969906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02FA4-0071-4220-B149-52A85ADD9EF9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D4EE0F-50B7-237D-F822-4246DFE55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50F3A5-D975-A921-3CF0-B1D65E594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753B-82A5-43E0-A753-2AA38D42C5D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397048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6F867-92D1-F5B0-8C29-E4A679DA9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F2373B-70DF-5F01-1CE3-1E504C82CE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B82FEC-4100-1B6D-FB7E-1F1CD7B935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718A52-997B-102F-2059-7C6F419479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03E180-4B77-FFBE-19CD-EF2B3F82E5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FD47B5-15AE-1583-D88D-EA9062978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02FA4-0071-4220-B149-52A85ADD9EF9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6346D3-D660-5B7B-D399-7F67D22C1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FB6C10-FF90-857E-3BB7-77D796136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753B-82A5-43E0-A753-2AA38D42C5D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80897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688F9-1394-EEBE-5310-6A81508713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310F9-FBD8-A16C-37D0-507D8F3A9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02FA4-0071-4220-B149-52A85ADD9EF9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1B0CDD-7490-8E67-5945-4C847063D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B999FE-95F7-4FE4-5307-BA0BA0C05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753B-82A5-43E0-A753-2AA38D42C5D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33958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741FD0-52E7-915F-74A7-692FABD65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02FA4-0071-4220-B149-52A85ADD9EF9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8482CA-B486-56A2-5053-37EF681B7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D1A40E-80FD-F642-F1E2-F6666DB41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753B-82A5-43E0-A753-2AA38D42C5D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5535582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8BE0-B761-FE4D-ED25-11C54E9F0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DD11E8-1E12-BA37-1576-BD126A750A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DCF604-B3C9-8906-4D75-BB49A80EB5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688900-58F5-13A9-0D63-A7360BCEF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02FA4-0071-4220-B149-52A85ADD9EF9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D9700E-E6AE-C269-C47A-0F7AAC3EF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78CD75-0AB2-82A4-533F-BEF0B2568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753B-82A5-43E0-A753-2AA38D42C5D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16543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F852F-4C98-57A6-72DD-9E13DAC4F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2B33B5-871B-F026-C1AD-5ED2F402A2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E2199F-E4AA-C91C-F2C8-2EDFE02C6B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ABD8CA-2D44-B06A-98B2-0B3D4BE69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02FA4-0071-4220-B149-52A85ADD9EF9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FC4CF0-4207-7B79-4DD5-EC194CB42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73733D-CE35-119D-2C4D-02ED24070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753B-82A5-43E0-A753-2AA38D42C5D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6940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BDA04-5931-8D2F-23F1-8C66C230C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8BA18D-0264-0045-BD67-5CB7DAAA7F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9B1F7D-03B0-AEE4-799A-505D0CFAD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02FA4-0071-4220-B149-52A85ADD9EF9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743C91-2F0E-61AE-23A8-F228F8040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4914CA-4CD2-55C7-EEB7-00E72ED27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753B-82A5-43E0-A753-2AA38D42C5D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291506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1EF653-07CF-0883-2AF6-DDCDFDF14E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09FBFA-BB8F-5F57-E0BA-BE2843D58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0CD1D3-066B-4E90-7111-6172C5ACA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02FA4-0071-4220-B149-52A85ADD9EF9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421479-DE3E-449A-DD0C-733A7003F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0AD87-6E1B-CC1D-EC79-5E382489A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E753B-82A5-43E0-A753-2AA38D42C5D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329382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48800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03182A-E193-57EF-E99B-04BE14194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1963DC-4A6A-3216-65C5-34E563DD94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B15F1D-98D7-EA6D-32FF-A935361374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202FA4-0071-4220-B149-52A85ADD9EF9}" type="datetimeFigureOut">
              <a:rPr lang="en-ZA" smtClean="0"/>
              <a:t>2026/07/14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59E703-89A3-DF8D-417E-41166873D0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67DE8B-FE15-C51B-23EB-8253436E82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7E753B-82A5-43E0-A753-2AA38D42C5D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051100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495E6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" name="Shape 1"/>
          <p:cNvSpPr/>
          <p:nvPr/>
        </p:nvSpPr>
        <p:spPr>
          <a:xfrm>
            <a:off x="548640" y="2395728"/>
            <a:ext cx="109728" cy="1554480"/>
          </a:xfrm>
          <a:prstGeom prst="rect">
            <a:avLst/>
          </a:prstGeom>
          <a:solidFill>
            <a:srgbClr val="C495E6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4" name="Text 2"/>
          <p:cNvSpPr/>
          <p:nvPr/>
        </p:nvSpPr>
        <p:spPr>
          <a:xfrm>
            <a:off x="86868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495E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2736243"/>
            <a:ext cx="10607040" cy="816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dirty="0">
                <a:solidFill>
                  <a:srgbClr val="FFFFF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From AI Gateway to AI Factory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6868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>
                <a:solidFill>
                  <a:srgbClr val="E9DE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Twelve Microsoft Foundry patterns — alongside your existing gateway and cloud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C49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Private Banking scenario</a:t>
            </a:r>
            <a:r>
              <a:rPr lang="en-US" sz="1450" dirty="0">
                <a:solidFill>
                  <a:srgbClr val="C3B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 ·     </a:t>
            </a: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in GitHub</a:t>
            </a:r>
            <a:r>
              <a:rPr lang="en-US" sz="1450" dirty="0">
                <a:solidFill>
                  <a:srgbClr val="C49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in Foundry</a:t>
            </a:r>
            <a:r>
              <a:rPr lang="en-US" sz="1450" dirty="0">
                <a:solidFill>
                  <a:srgbClr val="C49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Reach in M365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68680" y="5029200"/>
            <a:ext cx="7863840" cy="0"/>
          </a:xfrm>
          <a:prstGeom prst="line">
            <a:avLst/>
          </a:prstGeom>
          <a:noFill/>
          <a:ln w="19050">
            <a:solidFill>
              <a:srgbClr val="4E3B6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Text 7"/>
          <p:cNvSpPr/>
          <p:nvPr/>
        </p:nvSpPr>
        <p:spPr>
          <a:xfrm>
            <a:off x="868680" y="519379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>
                <a:solidFill>
                  <a:srgbClr val="C3B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patterns   ·   12 demos   </a:t>
            </a:r>
            <a:r>
              <a:rPr lang="en-US" sz="1250" i="1" dirty="0">
                <a:solidFill>
                  <a:srgbClr val="C3B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  60 minutes   ·   for architects &amp; principal engineers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3367235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2819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wedge</a:t>
            </a:r>
            <a:r>
              <a:rPr lang="en-US" sz="2700" b="1">
                <a:solidFill>
                  <a:srgbClr val="2819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: keep your gateway, keep your cloud </a:t>
            </a:r>
            <a:r>
              <a:rPr lang="en-US" sz="2700" b="1" dirty="0">
                <a:solidFill>
                  <a:srgbClr val="2819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— add the factory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66928" y="14173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700" b="1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gateway gives you MODEL ACCESS.</a:t>
            </a:r>
            <a:endParaRPr lang="en-US" sz="1700" dirty="0"/>
          </a:p>
          <a:p>
            <a:pPr marL="0" indent="0">
              <a:buNone/>
            </a:pPr>
            <a:r>
              <a:rPr lang="en-US" sz="135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LiteLLM gateway (or Azure API Management) is the right pattern for that — one OpenAI-compatible endpoint, keys, budgets</a:t>
            </a:r>
            <a:r>
              <a:rPr lang="en-US" sz="135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routing across providers.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66928" y="26517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700" b="1" dirty="0">
                <a:solidFill>
                  <a:srgbClr val="7C4D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gives you the AGENT FACTORY.</a:t>
            </a:r>
            <a:endParaRPr lang="en-US" sz="1700" dirty="0"/>
          </a:p>
          <a:p>
            <a:pPr marL="0" indent="0">
              <a:buNone/>
            </a:pPr>
            <a:r>
              <a:rPr lang="en-US" sz="135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runtime (Plan / Act / Observe), grounding (Microsoft IQ), identity, evaluation, tracing and safety plane AROUND the models — exactly the depth a homegrown factory lacks.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914400" y="443484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281933"/>
          </a:solidFill>
          <a:ln w="12700">
            <a:solidFill>
              <a:srgbClr val="281933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6" name="Text 4"/>
          <p:cNvSpPr/>
          <p:nvPr/>
        </p:nvSpPr>
        <p:spPr>
          <a:xfrm>
            <a:off x="960120" y="4434840"/>
            <a:ext cx="320040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</a:t>
            </a:r>
            <a:endParaRPr lang="en-US" sz="12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C3B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LiteLLM / APIM — model access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532120" y="4434840"/>
            <a:ext cx="5760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C495E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8" name="Text 6"/>
          <p:cNvSpPr/>
          <p:nvPr/>
        </p:nvSpPr>
        <p:spPr>
          <a:xfrm>
            <a:off x="5577840" y="4434840"/>
            <a:ext cx="566928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7C4D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the agent factory</a:t>
            </a:r>
            <a:endParaRPr lang="en-US" sz="11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runtime · Microsoft IQ · identity · eval · tracing · safety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06240" y="4956048"/>
            <a:ext cx="1325880" cy="914"/>
          </a:xfrm>
          <a:prstGeom prst="line">
            <a:avLst/>
          </a:prstGeom>
          <a:noFill/>
          <a:ln w="31750">
            <a:solidFill>
              <a:srgbClr val="7C4DB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4160520" y="45537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7C4D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651967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AI Gateway to AI Factory  ·  Private Banking  </a:t>
            </a:r>
            <a:r>
              <a:rPr lang="en-US" sz="90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 Twelve Foundry patterns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38560" y="65196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9824049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819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Run-of-show — 60 minutes, 1 slide + 1 demo each</a:t>
            </a:r>
            <a:endParaRPr lang="en-US" sz="2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158963"/>
              </p:ext>
            </p:extLst>
          </p:nvPr>
        </p:nvGraphicFramePr>
        <p:xfrm>
          <a:off x="566928" y="1554480"/>
          <a:ext cx="5431795" cy="4389120"/>
        </p:xfrm>
        <a:graphic>
          <a:graphicData uri="http://schemas.openxmlformats.org/drawingml/2006/table">
            <a:tbl>
              <a:tblPr/>
              <a:tblGrid>
                <a:gridCol w="7182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135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19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19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7C4DB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819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Wedge → AI Hub Gateway / Citadel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7C4DB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819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Hosted Agent Service    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7C4DBC"/>
                          </a:solidFill>
                          <a:latin typeface="Segoe UI" pitchFamily="34" charset="0"/>
                          <a:ea typeface="Segoe UI" charset="0"/>
                          <a:cs typeface="Segoe UI" pitchFamily="34" charset="-120"/>
                        </a:rPr>
                        <a:t>3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819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 IQ (Web IQ + Foundry IQ)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7C4DB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dirty="0">
                          <a:solidFill>
                            <a:srgbClr val="2819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Agentic Loop (Build Skills, Not Agents)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7C4DBC"/>
                          </a:solidFill>
                          <a:latin typeface="Segoe UI" pitchFamily="34" charset="0"/>
                          <a:ea typeface="Segoe UI" charset="0"/>
                          <a:cs typeface="Segoe UI" pitchFamily="34" charset="-120"/>
                        </a:rPr>
                        <a:t>5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819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Multi-agent (Agent Framework)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>
                          <a:solidFill>
                            <a:srgbClr val="7C4DBC"/>
                          </a:solidFill>
                          <a:latin typeface="Segoe UI" pitchFamily="34" charset="0"/>
                          <a:ea typeface="Segoe UI" charset="0"/>
                          <a:cs typeface="Segoe UI" pitchFamily="34" charset="-120"/>
                        </a:rPr>
                        <a:t>6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dirty="0">
                          <a:solidFill>
                            <a:srgbClr val="2819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Observability &amp; tracing (</a:t>
                      </a:r>
                      <a:r>
                        <a:rPr lang="en-US" sz="1300" dirty="0" err="1">
                          <a:solidFill>
                            <a:srgbClr val="2819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OpenTelemetry</a:t>
                      </a:r>
                      <a:r>
                        <a:rPr lang="en-US" sz="1300" dirty="0">
                          <a:solidFill>
                            <a:srgbClr val="2819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)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>
                          <a:solidFill>
                            <a:srgbClr val="7C4DBC"/>
                          </a:solidFill>
                          <a:latin typeface="Segoe UI" pitchFamily="34" charset="0"/>
                          <a:ea typeface="Segoe UI" charset="0"/>
                          <a:cs typeface="Segoe UI" pitchFamily="34" charset="-120"/>
                        </a:rPr>
                        <a:t>7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dirty="0">
                          <a:solidFill>
                            <a:srgbClr val="2819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Evaluation → optimization (CI gate)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 1"/>
          <p:cNvSpPr/>
          <p:nvPr/>
        </p:nvSpPr>
        <p:spPr>
          <a:xfrm>
            <a:off x="566928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slide, one live demo per pattern</a:t>
            </a:r>
            <a:r>
              <a:rPr lang="en-US" sz="1250" i="1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Twelve patterns, </a:t>
            </a:r>
            <a:r>
              <a:rPr lang="en-US" sz="1250" i="1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blocks — timed to land the close on cross-cloud interop.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48640" y="651967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AI Gateway to AI Factory  ·  Private Banking  </a:t>
            </a:r>
            <a:r>
              <a:rPr lang="en-US" sz="90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 Twelve Foundry patterns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338560" y="65196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3DF883AA-3B5E-1260-7A5E-3427F2262F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1454531"/>
              </p:ext>
            </p:extLst>
          </p:nvPr>
        </p:nvGraphicFramePr>
        <p:xfrm>
          <a:off x="6363965" y="1587943"/>
          <a:ext cx="5431795" cy="3770441"/>
        </p:xfrm>
        <a:graphic>
          <a:graphicData uri="http://schemas.openxmlformats.org/drawingml/2006/table">
            <a:tbl>
              <a:tblPr/>
              <a:tblGrid>
                <a:gridCol w="7307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10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86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19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19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7C4DBC"/>
                          </a:solidFill>
                          <a:latin typeface="Segoe UI" pitchFamily="34" charset="0"/>
                          <a:ea typeface="Segoe UI" charset="0"/>
                          <a:cs typeface="Segoe UI" pitchFamily="34" charset="-120"/>
                        </a:rPr>
                        <a:t>8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819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Governance / Prompt Shields / Content Safety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7C4DB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819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AWS cross-cloud interop (MCP / A2A) 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7C4DB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latin typeface="Segoe UI" charset="0"/>
                          <a:ea typeface="Segoe UI" charset="0"/>
                          <a:cs typeface="Segoe UI" charset="0"/>
                        </a:rPr>
                        <a:t>Memory ( Short-term &amp; Long-term)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7C4DB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latin typeface="Segoe UI" charset="0"/>
                          <a:ea typeface="Segoe UI" charset="0"/>
                          <a:cs typeface="Segoe UI" charset="0"/>
                        </a:rPr>
                        <a:t>Caching &amp; Cost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7C4DB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latin typeface="Segoe UI" charset="0"/>
                          <a:ea typeface="Segoe UI" charset="0"/>
                          <a:cs typeface="Segoe UI" charset="0"/>
                        </a:rPr>
                        <a:t>Agent 365 &amp; ROI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>
                          <a:solidFill>
                            <a:srgbClr val="7C4DBC"/>
                          </a:solidFill>
                          <a:latin typeface="Segoe UI" pitchFamily="34" charset="0"/>
                          <a:ea typeface="Segoe UI" charset="0"/>
                          <a:cs typeface="Segoe UI" pitchFamily="34" charset="-120"/>
                        </a:rPr>
                        <a:t>--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latin typeface="Segoe UI" charset="0"/>
                          <a:ea typeface="Segoe UI" charset="0"/>
                          <a:cs typeface="Segoe UI" charset="0"/>
                        </a:rPr>
                        <a:t>Q &amp; 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50104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926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7C4DB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5F7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874520" y="365760"/>
            <a:ext cx="9738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2819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Wedge → AI Hub Gateway / Citadel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7C4DB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gateway gives you model access. Foundry gives you the agent factory.”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3FA34D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OpenAI-shaped call, keyless via Entra ID — 401 without a token, 200 with.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1C8FD6"/>
          </a:solidFill>
          <a:ln w="12700">
            <a:solidFill>
              <a:srgbClr val="1C8FD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app / agent</a:t>
            </a:r>
            <a:endParaRPr lang="en-US" sz="12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E4F3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API key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281933"/>
          </a:solidFill>
          <a:ln w="12700">
            <a:solidFill>
              <a:srgbClr val="281933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2" name="Text 10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 (APIM)</a:t>
            </a:r>
            <a:endParaRPr lang="en-US" sz="12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C3B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validate-azure-ad-token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C495E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4" name="Text 12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7C4D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model</a:t>
            </a:r>
            <a:endParaRPr lang="en-US" sz="12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gpt-5.4-mini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6" name="Text 14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</a:t>
            </a:r>
            <a:endParaRPr lang="en-US" sz="12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provider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18" name="Text 16"/>
          <p:cNvSpPr/>
          <p:nvPr/>
        </p:nvSpPr>
        <p:spPr>
          <a:xfrm>
            <a:off x="3246120" y="33101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Entra ID token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0" name="Text 18"/>
          <p:cNvSpPr/>
          <p:nvPr/>
        </p:nvSpPr>
        <p:spPr>
          <a:xfrm>
            <a:off x="7223760" y="314553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identity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7C99"/>
            </a:solidFill>
            <a:prstDash val="dash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2" name="Text 20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6E5F7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A HOMEGROWN FACTORY FALLS SHORT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4" name="Shape 22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5" name="Text 23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 stays </a:t>
            </a: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zero rip-and-replace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Shape 25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8" name="Text 26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Reframes gateway as commodity; factory as the differentiation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Shape 28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1" name="Text 29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Ships as AI Hub Gateway / Citadel (Foundry + APIM)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51967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AI Gateway to AI Factory  ·  Private Banking  </a:t>
            </a:r>
            <a:r>
              <a:rPr lang="en-US" sz="90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 Twelve Foundry patterns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38560" y="65196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814153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7C4DB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5F7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874520" y="365760"/>
            <a:ext cx="9738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2819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Hosted Agent Service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7C4DB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didn't build a runtime, a vector store and an identity system. You called an API — or handed us a container.”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3FA34D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hosting models — declarative prompt agent + BYO-code hosted agent — both first-class, both with an Entra Agent ID.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281933"/>
          </a:solidFill>
          <a:ln w="12700">
            <a:solidFill>
              <a:srgbClr val="281933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68580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· Prompt agent</a:t>
            </a:r>
            <a:endParaRPr lang="en-US" sz="12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C3B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rm-assistant-prompt (config)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17720" y="2697480"/>
            <a:ext cx="2971800" cy="777240"/>
          </a:xfrm>
          <a:prstGeom prst="roundRect">
            <a:avLst>
              <a:gd name="adj" fmla="val 9412"/>
            </a:avLst>
          </a:prstGeom>
          <a:solidFill>
            <a:srgbClr val="1C8FD6"/>
          </a:solidFill>
          <a:ln w="12700">
            <a:solidFill>
              <a:srgbClr val="1C8FD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2" name="Text 10"/>
          <p:cNvSpPr/>
          <p:nvPr/>
        </p:nvSpPr>
        <p:spPr>
          <a:xfrm>
            <a:off x="4663440" y="2697480"/>
            <a:ext cx="28803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Service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82396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281933"/>
          </a:solidFill>
          <a:ln w="12700">
            <a:solidFill>
              <a:srgbClr val="281933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4" name="Text 12"/>
          <p:cNvSpPr/>
          <p:nvPr/>
        </p:nvSpPr>
        <p:spPr>
          <a:xfrm>
            <a:off x="886968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 · Hosted agent</a:t>
            </a:r>
            <a:endParaRPr lang="en-US" sz="12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C3B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rm-assistant-hosted (your code)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FE9F5"/>
          </a:solidFill>
          <a:ln w="12700">
            <a:solidFill>
              <a:srgbClr val="E4DCEE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6" name="Text 14"/>
          <p:cNvSpPr/>
          <p:nvPr/>
        </p:nvSpPr>
        <p:spPr>
          <a:xfrm>
            <a:off x="68580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Search RAG + function tool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82396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FE9F5"/>
          </a:solidFill>
          <a:ln w="12700">
            <a:solidFill>
              <a:srgbClr val="E4DCEE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8" name="Text 16"/>
          <p:cNvSpPr/>
          <p:nvPr/>
        </p:nvSpPr>
        <p:spPr>
          <a:xfrm>
            <a:off x="886968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container · Foundry-managed compute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566160" y="4370832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C495E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0" name="Text 18"/>
          <p:cNvSpPr/>
          <p:nvPr/>
        </p:nvSpPr>
        <p:spPr>
          <a:xfrm>
            <a:off x="3611880" y="4370832"/>
            <a:ext cx="26517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7C4D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governed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766560" y="4370832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EFE9F5"/>
          </a:solidFill>
          <a:ln w="12700">
            <a:solidFill>
              <a:srgbClr val="E4DCEE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2" name="Text 20"/>
          <p:cNvSpPr/>
          <p:nvPr/>
        </p:nvSpPr>
        <p:spPr>
          <a:xfrm>
            <a:off x="6812280" y="4370832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Portal: chat · logs · versions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383280" y="3086100"/>
            <a:ext cx="1234440" cy="914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4" name="Shape 22"/>
          <p:cNvSpPr/>
          <p:nvPr/>
        </p:nvSpPr>
        <p:spPr>
          <a:xfrm flipH="1">
            <a:off x="7589520" y="3086100"/>
            <a:ext cx="1234440" cy="914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5" name="Shape 23"/>
          <p:cNvSpPr/>
          <p:nvPr/>
        </p:nvSpPr>
        <p:spPr>
          <a:xfrm flipV="1">
            <a:off x="2011680" y="3474720"/>
            <a:ext cx="914" cy="228600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6" name="Shape 24"/>
          <p:cNvSpPr/>
          <p:nvPr/>
        </p:nvSpPr>
        <p:spPr>
          <a:xfrm flipV="1">
            <a:off x="10195560" y="3474720"/>
            <a:ext cx="914" cy="228600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7" name="Shape 25"/>
          <p:cNvSpPr/>
          <p:nvPr/>
        </p:nvSpPr>
        <p:spPr>
          <a:xfrm flipH="1">
            <a:off x="4937760" y="3474720"/>
            <a:ext cx="640080" cy="896112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8" name="Shape 26"/>
          <p:cNvSpPr/>
          <p:nvPr/>
        </p:nvSpPr>
        <p:spPr>
          <a:xfrm>
            <a:off x="6629400" y="3474720"/>
            <a:ext cx="1463040" cy="896112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9" name="Text 27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6E5F7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A HOMEGROWN FACTORY FALLS SHORT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Shape 29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2" name="Text 30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Prompt-based: model + instructions + tools; File Search RAG (managed vector store)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Shape 32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5" name="Text 33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Hosted: your container on Foundry-managed compute — any framework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7" name="Shape 35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8" name="Text 36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governable identity per agent, not a shared IAM role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48640" y="651967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AI Gateway to AI Factory  ·  Private Banking  </a:t>
            </a:r>
            <a:r>
              <a:rPr lang="en-US" sz="90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 Twelve Foundry patterns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38560" y="65196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854121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7C4DB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5F7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874520" y="365760"/>
            <a:ext cx="9738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2819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IQ — Web IQ + Foundry IQ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7C4DB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“Web IQ grounds you in the world. Foundry IQ grounds you in your enterprise.”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1793807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3FA34D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566928" y="1797787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517904" y="1793807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IQ is a governed MCP tool connection in Foundry; any client grounds through it, keyless.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281933"/>
          </a:solidFill>
          <a:ln w="12700">
            <a:solidFill>
              <a:srgbClr val="281933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client</a:t>
            </a:r>
            <a:endParaRPr lang="en-US" sz="12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C3B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Bedrock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1C8FD6"/>
          </a:solidFill>
          <a:ln w="12700">
            <a:solidFill>
              <a:srgbClr val="1C8FD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2" name="Text 10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lang="en-US" sz="12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E4F3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MCP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60920" y="2097551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7C4DBC"/>
          </a:solidFill>
          <a:ln w="12700">
            <a:solidFill>
              <a:srgbClr val="7C4DBC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4" name="Text 12"/>
          <p:cNvSpPr/>
          <p:nvPr/>
        </p:nvSpPr>
        <p:spPr>
          <a:xfrm>
            <a:off x="7406640" y="2097551"/>
            <a:ext cx="388620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IQ (MCP) — cited web context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360920" y="2911367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7C4DBC"/>
          </a:solidFill>
          <a:ln w="12700">
            <a:solidFill>
              <a:srgbClr val="7C4DBC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6" name="Text 14"/>
          <p:cNvSpPr/>
          <p:nvPr/>
        </p:nvSpPr>
        <p:spPr>
          <a:xfrm>
            <a:off x="7406640" y="2911367"/>
            <a:ext cx="388620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 — Azure AI Search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360920" y="3725183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C495E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8" name="Text 16"/>
          <p:cNvSpPr/>
          <p:nvPr/>
        </p:nvSpPr>
        <p:spPr>
          <a:xfrm>
            <a:off x="7406640" y="3725183"/>
            <a:ext cx="388620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7C4D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IQ — M365 org context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297680"/>
            <a:ext cx="3063240" cy="603504"/>
          </a:xfrm>
          <a:prstGeom prst="roundRect">
            <a:avLst>
              <a:gd name="adj" fmla="val 12121"/>
            </a:avLst>
          </a:prstGeom>
          <a:solidFill>
            <a:srgbClr val="EFE9F5"/>
          </a:solidFill>
          <a:ln w="12700">
            <a:solidFill>
              <a:srgbClr val="E4DCEE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0" name="Text 18"/>
          <p:cNvSpPr/>
          <p:nvPr/>
        </p:nvSpPr>
        <p:spPr>
          <a:xfrm>
            <a:off x="548640" y="4297680"/>
            <a:ext cx="297180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connection: WebIQ-MCP-1</a:t>
            </a:r>
            <a:endParaRPr lang="en-US" sz="11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stored server-side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2" name="Shape 20"/>
          <p:cNvSpPr/>
          <p:nvPr/>
        </p:nvSpPr>
        <p:spPr>
          <a:xfrm flipV="1">
            <a:off x="6492240" y="2613594"/>
            <a:ext cx="868680" cy="566928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3" name="Shape 21"/>
          <p:cNvSpPr/>
          <p:nvPr/>
        </p:nvSpPr>
        <p:spPr>
          <a:xfrm>
            <a:off x="6492240" y="3317682"/>
            <a:ext cx="868680" cy="109728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4" name="Shape 22"/>
          <p:cNvSpPr/>
          <p:nvPr/>
        </p:nvSpPr>
        <p:spPr>
          <a:xfrm>
            <a:off x="6492240" y="3454842"/>
            <a:ext cx="868680" cy="603504"/>
          </a:xfrm>
          <a:prstGeom prst="line">
            <a:avLst/>
          </a:prstGeom>
          <a:noFill/>
          <a:ln w="22225">
            <a:solidFill>
              <a:srgbClr val="8A7C99"/>
            </a:solidFill>
            <a:prstDash val="dash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5" name="Shape 23"/>
          <p:cNvSpPr/>
          <p:nvPr/>
        </p:nvSpPr>
        <p:spPr>
          <a:xfrm>
            <a:off x="1920240" y="3977640"/>
            <a:ext cx="914" cy="320040"/>
          </a:xfrm>
          <a:prstGeom prst="line">
            <a:avLst/>
          </a:prstGeom>
          <a:noFill/>
          <a:ln w="22225">
            <a:solidFill>
              <a:srgbClr val="8A7C99"/>
            </a:solidFill>
            <a:prstDash val="dash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6" name="Text 24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keyless read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6E5F7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A HOMEGROWN FACTORY FALLS SHORT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MCP grounding — one AI-Gateway endpoint, any agent / model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Keyless: key stays in the Foundry connection, read at runtime (Entra)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 context (Work IQ / M365) </a:t>
            </a:r>
            <a:r>
              <a:rPr lang="en-US" sz="115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grounded in your tenant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48640" y="651967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AI Gateway to AI Factory  ·  Private Banking  </a:t>
            </a:r>
            <a:r>
              <a:rPr lang="en-US" sz="90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 Twelve Foundry patterns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38560" y="65196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40" name="Shape 15">
            <a:extLst>
              <a:ext uri="{FF2B5EF4-FFF2-40B4-BE49-F238E27FC236}">
                <a16:creationId xmlns:a16="http://schemas.microsoft.com/office/drawing/2014/main" id="{5B52A741-FBDC-B581-1564-E7AEFA2AEBFD}"/>
              </a:ext>
            </a:extLst>
          </p:cNvPr>
          <p:cNvSpPr/>
          <p:nvPr/>
        </p:nvSpPr>
        <p:spPr>
          <a:xfrm>
            <a:off x="7360920" y="4538999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C495E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42" name="Text 16">
            <a:extLst>
              <a:ext uri="{FF2B5EF4-FFF2-40B4-BE49-F238E27FC236}">
                <a16:creationId xmlns:a16="http://schemas.microsoft.com/office/drawing/2014/main" id="{6FA2DCB0-49AE-AAAA-82D8-F3D0682D51CE}"/>
              </a:ext>
            </a:extLst>
          </p:cNvPr>
          <p:cNvSpPr/>
          <p:nvPr/>
        </p:nvSpPr>
        <p:spPr>
          <a:xfrm>
            <a:off x="7406640" y="4538999"/>
            <a:ext cx="388620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7C4D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 IQ — Business context</a:t>
            </a:r>
            <a:endParaRPr lang="en-US" sz="1150" dirty="0"/>
          </a:p>
        </p:txBody>
      </p:sp>
      <p:sp>
        <p:nvSpPr>
          <p:cNvPr id="44" name="Shape 22">
            <a:extLst>
              <a:ext uri="{FF2B5EF4-FFF2-40B4-BE49-F238E27FC236}">
                <a16:creationId xmlns:a16="http://schemas.microsoft.com/office/drawing/2014/main" id="{849E37FD-F7B5-529E-1221-A78088ECCF67}"/>
              </a:ext>
            </a:extLst>
          </p:cNvPr>
          <p:cNvSpPr/>
          <p:nvPr/>
        </p:nvSpPr>
        <p:spPr>
          <a:xfrm>
            <a:off x="6492240" y="3573714"/>
            <a:ext cx="861368" cy="1316736"/>
          </a:xfrm>
          <a:prstGeom prst="line">
            <a:avLst/>
          </a:prstGeom>
          <a:noFill/>
          <a:ln w="22225">
            <a:solidFill>
              <a:srgbClr val="8A7C99"/>
            </a:solidFill>
            <a:prstDash val="dash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7123896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7C4DB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5F7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874520" y="365760"/>
            <a:ext cx="9738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2819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Agentic Loop — Build Skills, Not Agents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7C4DB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“Don't orchestrate fifty agents. Give one good loop the right skills — and let it reason.”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3FA34D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Plan / Act / Observe loop, N skills-as-folders; engine swapped to Copilot SDK BYOM.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887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281933"/>
          </a:solidFill>
          <a:ln w="12700">
            <a:solidFill>
              <a:srgbClr val="281933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12344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Reason (Plan)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8463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7C4DBC"/>
          </a:solidFill>
          <a:ln w="12700">
            <a:solidFill>
              <a:srgbClr val="7C4DBC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2" name="Text 10"/>
          <p:cNvSpPr/>
          <p:nvPr/>
        </p:nvSpPr>
        <p:spPr>
          <a:xfrm>
            <a:off x="48920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— skill / tool</a:t>
            </a:r>
            <a:endParaRPr lang="en-US" sz="12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ECE1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capabilities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5039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1C8FD6"/>
          </a:solidFill>
          <a:ln w="12700">
            <a:solidFill>
              <a:srgbClr val="1C8FD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4" name="Text 12"/>
          <p:cNvSpPr/>
          <p:nvPr/>
        </p:nvSpPr>
        <p:spPr>
          <a:xfrm>
            <a:off x="85496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Observe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846320" y="2487168"/>
            <a:ext cx="24688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C495E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6" name="Text 14"/>
          <p:cNvSpPr/>
          <p:nvPr/>
        </p:nvSpPr>
        <p:spPr>
          <a:xfrm>
            <a:off x="4892040" y="2487168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7C4D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SKILL.md × 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57600" y="3566160"/>
            <a:ext cx="1188720" cy="914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18" name="Shape 16"/>
          <p:cNvSpPr/>
          <p:nvPr/>
        </p:nvSpPr>
        <p:spPr>
          <a:xfrm>
            <a:off x="7315200" y="3566160"/>
            <a:ext cx="1188720" cy="914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19" name="Shape 17"/>
          <p:cNvSpPr/>
          <p:nvPr/>
        </p:nvSpPr>
        <p:spPr>
          <a:xfrm>
            <a:off x="6080760" y="2990088"/>
            <a:ext cx="914" cy="164592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0" name="Shape 18"/>
          <p:cNvSpPr/>
          <p:nvPr/>
        </p:nvSpPr>
        <p:spPr>
          <a:xfrm flipH="1">
            <a:off x="2423160" y="4160520"/>
            <a:ext cx="7315200" cy="914"/>
          </a:xfrm>
          <a:prstGeom prst="line">
            <a:avLst/>
          </a:prstGeom>
          <a:noFill/>
          <a:ln w="22225">
            <a:solidFill>
              <a:srgbClr val="7C4DB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1" name="Shape 19"/>
          <p:cNvSpPr/>
          <p:nvPr/>
        </p:nvSpPr>
        <p:spPr>
          <a:xfrm>
            <a:off x="9738360" y="3977640"/>
            <a:ext cx="0" cy="182880"/>
          </a:xfrm>
          <a:prstGeom prst="line">
            <a:avLst/>
          </a:prstGeom>
          <a:noFill/>
          <a:ln w="22225">
            <a:solidFill>
              <a:srgbClr val="7C4DB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Shape 20"/>
          <p:cNvSpPr/>
          <p:nvPr/>
        </p:nvSpPr>
        <p:spPr>
          <a:xfrm>
            <a:off x="2423160" y="3977640"/>
            <a:ext cx="0" cy="182880"/>
          </a:xfrm>
          <a:prstGeom prst="line">
            <a:avLst/>
          </a:prstGeom>
          <a:noFill/>
          <a:ln w="22225">
            <a:solidFill>
              <a:srgbClr val="7C4DB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Text 21"/>
          <p:cNvSpPr/>
          <p:nvPr/>
        </p:nvSpPr>
        <p:spPr>
          <a:xfrm>
            <a:off x="5120640" y="418795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C4D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loop back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383280" y="4455114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EFE9F5"/>
          </a:solidFill>
          <a:ln w="12700">
            <a:solidFill>
              <a:srgbClr val="E4DCEE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5" name="Text 23"/>
          <p:cNvSpPr/>
          <p:nvPr/>
        </p:nvSpPr>
        <p:spPr>
          <a:xfrm>
            <a:off x="3429000" y="4455114"/>
            <a:ext cx="53035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Engine: Copilot SDK BYOM — your Azure model + billing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6E5F7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A HOMEGROWN FACTORY FALLS SHORT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Shape 26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9" name="Text 27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loop to maintain vs a brittle handoff graph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Shape 29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2" name="Text 30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Skills portable across tools / models; add one in minutes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Shape 32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5" name="Text 33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BYOM — proven Copilot loop, your model + your billing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48640" y="651967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AI Gateway to AI Factory  ·  Private Banking  </a:t>
            </a:r>
            <a:r>
              <a:rPr lang="en-US" sz="90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 Twelve Foundry patterns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338560" y="65196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607554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7C4DB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5F7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874520" y="365760"/>
            <a:ext cx="9738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2819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Multi-agent Orchestration (Agent Framework)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7C4DB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“Orchestrate specialists when the problem is genuinely parallel — not because a framework let you.”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3FA34D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fans out to two specialists concurrently; Compliance returns BLOCK, then aggregate.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281933"/>
          </a:solidFill>
          <a:ln w="12700">
            <a:solidFill>
              <a:srgbClr val="281933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777240" y="324612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Orchestrator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63440" y="256032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7C4DBC"/>
          </a:solidFill>
          <a:ln w="12700">
            <a:solidFill>
              <a:srgbClr val="7C4DBC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2" name="Text 10"/>
          <p:cNvSpPr/>
          <p:nvPr/>
        </p:nvSpPr>
        <p:spPr>
          <a:xfrm>
            <a:off x="4709160" y="256032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Analyst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663440" y="406908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7C4DBC"/>
          </a:solidFill>
          <a:ln w="12700">
            <a:solidFill>
              <a:srgbClr val="7C4DBC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4" name="Text 12"/>
          <p:cNvSpPr/>
          <p:nvPr/>
        </p:nvSpPr>
        <p:spPr>
          <a:xfrm>
            <a:off x="4709160" y="406908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Officer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006840" y="324612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495E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6" name="Text 14"/>
          <p:cNvSpPr/>
          <p:nvPr/>
        </p:nvSpPr>
        <p:spPr>
          <a:xfrm>
            <a:off x="9052560" y="324612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7C4D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Aggregate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 flipV="1">
            <a:off x="3291840" y="2971800"/>
            <a:ext cx="1371600" cy="594360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18" name="Shape 16"/>
          <p:cNvSpPr/>
          <p:nvPr/>
        </p:nvSpPr>
        <p:spPr>
          <a:xfrm>
            <a:off x="3291840" y="3840480"/>
            <a:ext cx="1371600" cy="594360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19" name="Shape 17"/>
          <p:cNvSpPr/>
          <p:nvPr/>
        </p:nvSpPr>
        <p:spPr>
          <a:xfrm>
            <a:off x="7772400" y="2971800"/>
            <a:ext cx="1234440" cy="594360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0" name="Shape 18"/>
          <p:cNvSpPr/>
          <p:nvPr/>
        </p:nvSpPr>
        <p:spPr>
          <a:xfrm flipV="1">
            <a:off x="7772400" y="3840480"/>
            <a:ext cx="1234440" cy="594360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1" name="Text 19"/>
          <p:cNvSpPr/>
          <p:nvPr/>
        </p:nvSpPr>
        <p:spPr>
          <a:xfrm>
            <a:off x="3383280" y="29992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C4D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6E5F7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A HOMEGROWN FACTORY FALLS SHORT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4" name="Shape 22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5" name="Text 23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orchestration (concurrent / sequential / handoff / Magentic)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Shape 25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8" name="Text 26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Open, code-first (SK / AutoGen lineage), model-portable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Shape 28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1" name="Text 29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guidance: default to Pattern 4; escalate when earned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51967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AI Gateway to AI Factory  ·  Private Banking  </a:t>
            </a:r>
            <a:r>
              <a:rPr lang="en-US" sz="90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 Twelve Foundry patterns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38560" y="65196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784517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7C4DB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5F7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874520" y="365760"/>
            <a:ext cx="9738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2819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Observability &amp; Tracing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7C4DB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real Foundry agent, then one traced turn — same run in the portal AND App Insights. And it's OTel, so it's yours.”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3FA34D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enable_tracing.py — agent 'rm-assistant-traced' + its trace in BOTH Foundry Tracing and App Insights.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281933"/>
          </a:solidFill>
          <a:ln w="12700">
            <a:solidFill>
              <a:srgbClr val="281933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731520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lang="en-US" sz="12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C3B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rm-assistant-traced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01568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281933"/>
          </a:solidFill>
          <a:ln w="12700">
            <a:solidFill>
              <a:srgbClr val="281933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2" name="Text 10"/>
          <p:cNvSpPr/>
          <p:nvPr/>
        </p:nvSpPr>
        <p:spPr>
          <a:xfrm>
            <a:off x="3447288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invoke_agent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17336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281933"/>
          </a:solidFill>
          <a:ln w="12700">
            <a:solidFill>
              <a:srgbClr val="281933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4" name="Text 12"/>
          <p:cNvSpPr/>
          <p:nvPr/>
        </p:nvSpPr>
        <p:spPr>
          <a:xfrm>
            <a:off x="6163056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833104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281933"/>
          </a:solidFill>
          <a:ln w="12700">
            <a:solidFill>
              <a:srgbClr val="281933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6" name="Text 14"/>
          <p:cNvSpPr/>
          <p:nvPr/>
        </p:nvSpPr>
        <p:spPr>
          <a:xfrm>
            <a:off x="8878824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136392" y="2816352"/>
            <a:ext cx="265176" cy="914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18" name="Shape 16"/>
          <p:cNvSpPr/>
          <p:nvPr/>
        </p:nvSpPr>
        <p:spPr>
          <a:xfrm>
            <a:off x="5852160" y="2816352"/>
            <a:ext cx="265176" cy="914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19" name="Shape 17"/>
          <p:cNvSpPr/>
          <p:nvPr/>
        </p:nvSpPr>
        <p:spPr>
          <a:xfrm>
            <a:off x="8567928" y="2816352"/>
            <a:ext cx="265176" cy="914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0" name="Shape 18"/>
          <p:cNvSpPr/>
          <p:nvPr/>
        </p:nvSpPr>
        <p:spPr>
          <a:xfrm>
            <a:off x="3931920" y="3456432"/>
            <a:ext cx="4297680" cy="713232"/>
          </a:xfrm>
          <a:prstGeom prst="roundRect">
            <a:avLst>
              <a:gd name="adj" fmla="val 10256"/>
            </a:avLst>
          </a:prstGeom>
          <a:solidFill>
            <a:srgbClr val="1C8FD6"/>
          </a:solidFill>
          <a:ln w="12700">
            <a:solidFill>
              <a:srgbClr val="1C8FD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1" name="Text 19"/>
          <p:cNvSpPr/>
          <p:nvPr/>
        </p:nvSpPr>
        <p:spPr>
          <a:xfrm>
            <a:off x="3977640" y="3456432"/>
            <a:ext cx="420624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spans</a:t>
            </a:r>
            <a:endParaRPr lang="en-US" sz="12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E4F3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tokens · latency · cost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26864" y="3145536"/>
            <a:ext cx="859536" cy="310896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3" name="Shape 21"/>
          <p:cNvSpPr/>
          <p:nvPr/>
        </p:nvSpPr>
        <p:spPr>
          <a:xfrm flipH="1">
            <a:off x="6309360" y="3145536"/>
            <a:ext cx="411480" cy="310896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4" name="Shape 22"/>
          <p:cNvSpPr/>
          <p:nvPr/>
        </p:nvSpPr>
        <p:spPr>
          <a:xfrm>
            <a:off x="685800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C495E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5" name="Text 23"/>
          <p:cNvSpPr/>
          <p:nvPr/>
        </p:nvSpPr>
        <p:spPr>
          <a:xfrm>
            <a:off x="731520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7C4D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Agents + Tracing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453128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C495E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7" name="Text 25"/>
          <p:cNvSpPr/>
          <p:nvPr/>
        </p:nvSpPr>
        <p:spPr>
          <a:xfrm>
            <a:off x="4498848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7C4D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Insights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220456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9" name="Text 27"/>
          <p:cNvSpPr/>
          <p:nvPr/>
        </p:nvSpPr>
        <p:spPr>
          <a:xfrm>
            <a:off x="8266176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Datadog / Grafana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 flipH="1">
            <a:off x="2331720" y="4169664"/>
            <a:ext cx="2971800" cy="201168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31" name="Shape 29"/>
          <p:cNvSpPr/>
          <p:nvPr/>
        </p:nvSpPr>
        <p:spPr>
          <a:xfrm>
            <a:off x="6080760" y="4169664"/>
            <a:ext cx="18288" cy="201168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32" name="Shape 30"/>
          <p:cNvSpPr/>
          <p:nvPr/>
        </p:nvSpPr>
        <p:spPr>
          <a:xfrm>
            <a:off x="6858000" y="4169664"/>
            <a:ext cx="3008376" cy="201168"/>
          </a:xfrm>
          <a:prstGeom prst="line">
            <a:avLst/>
          </a:prstGeom>
          <a:noFill/>
          <a:ln w="22225">
            <a:solidFill>
              <a:srgbClr val="8A7C99"/>
            </a:solidFill>
            <a:prstDash val="dash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33" name="Text 31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6E5F7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A HOMEGROWN FACTORY FALLS SHORT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Shape 33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6" name="Text 34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shows in the Agents list; run traced server-side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8" name="Shape 36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9" name="Text 37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Token + cost + latency per span — observability &amp; FinOps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Shape 39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42" name="Text 40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— portable to Datadog / Grafana, no lock-in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548640" y="651967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AI Gateway to AI Factory  ·  Private Banking  </a:t>
            </a:r>
            <a:r>
              <a:rPr lang="en-US" sz="90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 Twelve Foundry patterns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38560" y="65196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1514055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7C4DB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5F7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874520" y="365760"/>
            <a:ext cx="9738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2819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Evaluation → Optimization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7C4DB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“If you can't score it, you can't ship it safely — and you can't optimize it.”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3FA34D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Score the golden set locally AND in Foundry; a wrong 'suitable' tanks groundedness and the CI gate blocks the PR.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880360"/>
            <a:ext cx="2514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C495E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4231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7C4D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Golden set</a:t>
            </a:r>
            <a:endParaRPr lang="en-US" sz="12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planted wrong row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520440" y="2971800"/>
            <a:ext cx="1783080" cy="640080"/>
          </a:xfrm>
          <a:prstGeom prst="roundRect">
            <a:avLst>
              <a:gd name="adj" fmla="val 11429"/>
            </a:avLst>
          </a:prstGeom>
          <a:solidFill>
            <a:srgbClr val="281933"/>
          </a:solidFill>
          <a:ln w="12700">
            <a:solidFill>
              <a:srgbClr val="281933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2" name="Text 10"/>
          <p:cNvSpPr/>
          <p:nvPr/>
        </p:nvSpPr>
        <p:spPr>
          <a:xfrm>
            <a:off x="3566160" y="2971800"/>
            <a:ext cx="16916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0" y="2880360"/>
            <a:ext cx="2788920" cy="822960"/>
          </a:xfrm>
          <a:prstGeom prst="roundRect">
            <a:avLst>
              <a:gd name="adj" fmla="val 8889"/>
            </a:avLst>
          </a:prstGeom>
          <a:solidFill>
            <a:srgbClr val="1C8FD6"/>
          </a:solidFill>
          <a:ln w="12700">
            <a:solidFill>
              <a:srgbClr val="1C8FD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4" name="Text 12"/>
          <p:cNvSpPr/>
          <p:nvPr/>
        </p:nvSpPr>
        <p:spPr>
          <a:xfrm>
            <a:off x="5715000" y="2880360"/>
            <a:ext cx="26974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Evaluators</a:t>
            </a:r>
            <a:endParaRPr lang="en-US" sz="12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E4F3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groundedness · tool-accuracy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869680" y="297180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C495E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6" name="Text 14"/>
          <p:cNvSpPr/>
          <p:nvPr/>
        </p:nvSpPr>
        <p:spPr>
          <a:xfrm>
            <a:off x="8915400" y="2971800"/>
            <a:ext cx="256032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7C4D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 gate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154680" y="3291840"/>
            <a:ext cx="365760" cy="914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18" name="Shape 16"/>
          <p:cNvSpPr/>
          <p:nvPr/>
        </p:nvSpPr>
        <p:spPr>
          <a:xfrm>
            <a:off x="5303520" y="3291840"/>
            <a:ext cx="365760" cy="914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19" name="Shape 17"/>
          <p:cNvSpPr/>
          <p:nvPr/>
        </p:nvSpPr>
        <p:spPr>
          <a:xfrm>
            <a:off x="8458200" y="3291840"/>
            <a:ext cx="411480" cy="914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0" name="Shape 18"/>
          <p:cNvSpPr/>
          <p:nvPr/>
        </p:nvSpPr>
        <p:spPr>
          <a:xfrm>
            <a:off x="5669280" y="4114800"/>
            <a:ext cx="2788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495E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1" name="Text 19"/>
          <p:cNvSpPr/>
          <p:nvPr/>
        </p:nvSpPr>
        <p:spPr>
          <a:xfrm>
            <a:off x="5715000" y="4114800"/>
            <a:ext cx="26974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7C4D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Evaluations tab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059168" y="3703320"/>
            <a:ext cx="914" cy="411480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3" name="Shape 21"/>
          <p:cNvSpPr/>
          <p:nvPr/>
        </p:nvSpPr>
        <p:spPr>
          <a:xfrm>
            <a:off x="8869680" y="411480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7DAD3"/>
          </a:solidFill>
          <a:ln w="15875">
            <a:solidFill>
              <a:srgbClr val="D46A5E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4" name="Text 22"/>
          <p:cNvSpPr/>
          <p:nvPr/>
        </p:nvSpPr>
        <p:spPr>
          <a:xfrm>
            <a:off x="8915400" y="411480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C039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 → blocks merge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10195560" y="3611880"/>
            <a:ext cx="914" cy="50292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6" name="Text 24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6E5F7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A HOMEGROWN FACTORY FALLS SHORT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Shape 26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9" name="Text 27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Agent-grade evaluators (groundedness, tool-call, intent)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Shape 29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2" name="Text 30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Scores locally + uploads to the Foundry Evaluations tab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Shape 32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5" name="Text 33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 gate on every PR — regressions can't merge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48640" y="651967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AI Gateway to AI Factory  ·  Private Banking  </a:t>
            </a:r>
            <a:r>
              <a:rPr lang="en-US" sz="90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 Twelve Foundry patterns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338560" y="65196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7873878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7C4DB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5F7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874520" y="365760"/>
            <a:ext cx="9738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2819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Governance / Prompt Shields / Content Safety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7C4DB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“Your gateway checks tokens. Foundry checks the attack — even the one hidden in a document.”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3FA34D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+ keyless: Prompt Shields blocks a direct jailbreak and a document-hidden XPIA; a clean question passes.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8803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1C8FD6"/>
          </a:solidFill>
          <a:ln w="12700">
            <a:solidFill>
              <a:srgbClr val="1C8FD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777240" y="2880360"/>
            <a:ext cx="21945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turn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977640" y="3200400"/>
            <a:ext cx="2926080" cy="960120"/>
          </a:xfrm>
          <a:prstGeom prst="roundRect">
            <a:avLst>
              <a:gd name="adj" fmla="val 7619"/>
            </a:avLst>
          </a:prstGeom>
          <a:solidFill>
            <a:srgbClr val="281933"/>
          </a:solidFill>
          <a:ln w="12700">
            <a:solidFill>
              <a:srgbClr val="281933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2" name="Text 10"/>
          <p:cNvSpPr/>
          <p:nvPr/>
        </p:nvSpPr>
        <p:spPr>
          <a:xfrm>
            <a:off x="4023360" y="3200400"/>
            <a:ext cx="283464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 Shields</a:t>
            </a:r>
            <a:endParaRPr lang="en-US" sz="12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C3B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jailbreak + indirect (XPIA)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75320" y="265176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E4F3EA"/>
          </a:solidFill>
          <a:ln w="13970">
            <a:solidFill>
              <a:srgbClr val="8FC79E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4" name="Text 12"/>
          <p:cNvSpPr/>
          <p:nvPr/>
        </p:nvSpPr>
        <p:spPr>
          <a:xfrm>
            <a:off x="8321040" y="265176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2E7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→ model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31520" y="4160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6" name="Text 14"/>
          <p:cNvSpPr/>
          <p:nvPr/>
        </p:nvSpPr>
        <p:spPr>
          <a:xfrm>
            <a:off x="777240" y="416052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doc — hidden XPIA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275320" y="420624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F7DAD3"/>
          </a:solidFill>
          <a:ln w="15875">
            <a:solidFill>
              <a:srgbClr val="D46A5E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8" name="Text 16"/>
          <p:cNvSpPr/>
          <p:nvPr/>
        </p:nvSpPr>
        <p:spPr>
          <a:xfrm>
            <a:off x="8321040" y="420624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C039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BLOCKED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017520" y="3291840"/>
            <a:ext cx="960120" cy="228600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0" name="Shape 18"/>
          <p:cNvSpPr/>
          <p:nvPr/>
        </p:nvSpPr>
        <p:spPr>
          <a:xfrm flipV="1">
            <a:off x="3383280" y="3977640"/>
            <a:ext cx="594360" cy="365760"/>
          </a:xfrm>
          <a:prstGeom prst="line">
            <a:avLst/>
          </a:prstGeom>
          <a:noFill/>
          <a:ln w="22225">
            <a:solidFill>
              <a:srgbClr val="8A7C99"/>
            </a:solidFill>
            <a:prstDash val="dash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1" name="Shape 19"/>
          <p:cNvSpPr/>
          <p:nvPr/>
        </p:nvSpPr>
        <p:spPr>
          <a:xfrm flipV="1">
            <a:off x="6903720" y="3017520"/>
            <a:ext cx="1371600" cy="411480"/>
          </a:xfrm>
          <a:prstGeom prst="line">
            <a:avLst/>
          </a:prstGeom>
          <a:noFill/>
          <a:ln w="25400">
            <a:solidFill>
              <a:srgbClr val="2E7D4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2" name="Text 20"/>
          <p:cNvSpPr/>
          <p:nvPr/>
        </p:nvSpPr>
        <p:spPr>
          <a:xfrm>
            <a:off x="7040880" y="2999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2E7D4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allow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03720" y="3931920"/>
            <a:ext cx="1371600" cy="59436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4" name="Text 22"/>
          <p:cNvSpPr/>
          <p:nvPr/>
        </p:nvSpPr>
        <p:spPr>
          <a:xfrm>
            <a:off x="7040880" y="4315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C039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6E5F7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A HOMEGROWN FACTORY FALLS SHORT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Shape 2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8" name="Text 2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XPIA / indirect-injection defence — rarely built in-house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Shape 2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1" name="Text 2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scoped, conditional-access identity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Shape 3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4" name="Text 3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Purview DSPM for AI — one DLP / audit plane across clouds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48640" y="651967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AI Gateway to AI Factory  ·  Private Banking  </a:t>
            </a:r>
            <a:r>
              <a:rPr lang="en-US" sz="90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 Twelve Foundry patterns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338560" y="65196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785347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7C4DB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09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5F7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874520" y="365760"/>
            <a:ext cx="9738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>
                <a:solidFill>
                  <a:srgbClr val="2819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Cross-cloud Interop — bring your other cloud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7C4DB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“Bedrock runs an agent. Foundry runs the agent factory. MCP and A2A let each cloud do what it's best at.”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3FA34D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calls an AWS tool over MCP (mock Lambda); A2A hands off to a Bedrock agent.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4709160" cy="2240280"/>
          </a:xfrm>
          <a:prstGeom prst="roundRect">
            <a:avLst>
              <a:gd name="adj" fmla="val 3265"/>
            </a:avLst>
          </a:prstGeom>
          <a:solidFill>
            <a:srgbClr val="F2ECFA"/>
          </a:solidFill>
          <a:ln w="12700">
            <a:solidFill>
              <a:srgbClr val="C495E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82296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C4DB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Azure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417320" y="329184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281933"/>
          </a:solidFill>
          <a:ln w="12700">
            <a:solidFill>
              <a:srgbClr val="281933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2" name="Text 10"/>
          <p:cNvSpPr/>
          <p:nvPr/>
        </p:nvSpPr>
        <p:spPr>
          <a:xfrm>
            <a:off x="1463040" y="3291840"/>
            <a:ext cx="30632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812280" y="2606040"/>
            <a:ext cx="4800600" cy="2240280"/>
          </a:xfrm>
          <a:prstGeom prst="roundRect">
            <a:avLst>
              <a:gd name="adj" fmla="val 3265"/>
            </a:avLst>
          </a:prstGeom>
          <a:solidFill>
            <a:srgbClr val="FBF3EB"/>
          </a:solidFill>
          <a:ln w="12700">
            <a:solidFill>
              <a:srgbClr val="D89B6A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Text 12"/>
          <p:cNvSpPr/>
          <p:nvPr/>
        </p:nvSpPr>
        <p:spPr>
          <a:xfrm>
            <a:off x="699516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5732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AWS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635240" y="3063240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6" name="Text 14"/>
          <p:cNvSpPr/>
          <p:nvPr/>
        </p:nvSpPr>
        <p:spPr>
          <a:xfrm>
            <a:off x="7680960" y="3063240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tool — Lambda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635240" y="4041648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8" name="Text 16"/>
          <p:cNvSpPr/>
          <p:nvPr/>
        </p:nvSpPr>
        <p:spPr>
          <a:xfrm>
            <a:off x="7680960" y="4041648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Amazon Bedrock agent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40680" y="342900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1C8FD6"/>
          </a:solidFill>
          <a:ln w="12700">
            <a:solidFill>
              <a:srgbClr val="1C8FD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0" name="Text 18"/>
          <p:cNvSpPr/>
          <p:nvPr/>
        </p:nvSpPr>
        <p:spPr>
          <a:xfrm>
            <a:off x="5486400" y="3429000"/>
            <a:ext cx="132588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/ A2A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0" y="3749040"/>
            <a:ext cx="868680" cy="914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2" name="Shape 20"/>
          <p:cNvSpPr/>
          <p:nvPr/>
        </p:nvSpPr>
        <p:spPr>
          <a:xfrm flipV="1">
            <a:off x="6858000" y="3401568"/>
            <a:ext cx="777240" cy="210312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3" name="Shape 21"/>
          <p:cNvSpPr/>
          <p:nvPr/>
        </p:nvSpPr>
        <p:spPr>
          <a:xfrm>
            <a:off x="6858000" y="3931920"/>
            <a:ext cx="777240" cy="457200"/>
          </a:xfrm>
          <a:prstGeom prst="line">
            <a:avLst/>
          </a:prstGeom>
          <a:noFill/>
          <a:ln w="22225">
            <a:solidFill>
              <a:srgbClr val="8A7C99"/>
            </a:solidFill>
            <a:prstDash val="dash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4" name="Text 22"/>
          <p:cNvSpPr/>
          <p:nvPr/>
        </p:nvSpPr>
        <p:spPr>
          <a:xfrm>
            <a:off x="6720840" y="4114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A2A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6E5F7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A HOMEGROWN FACTORY FALLS SHORT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Shape 2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8" name="Text 2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Wrap, don't rewrite — call AWS tools from Foundry via MCP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Shape 2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1" name="Text 2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A2A hand-off exposes Foundry agents to Bedrock and back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Shape 3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4" name="Text 3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overlay (Entra + Purview) spans both clouds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48640" y="651967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AI Gateway to AI Factory  ·  Private Banking  </a:t>
            </a:r>
            <a:r>
              <a:rPr lang="en-US" sz="90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 Twelve Foundry patterns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338560" y="65196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2976543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7C4DB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5F7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874520" y="365760"/>
            <a:ext cx="9738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2819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Memory — agents that remember the client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7C4DB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stateless agent meets every client as a stranger. Memory turns transactions into a relationship.”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3FA34D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 per-user Memory Store; the RM assistant recalls the client's risk appetite across sessions — remember / forget on command.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EFE9F5"/>
          </a:solidFill>
          <a:ln w="12700">
            <a:solidFill>
              <a:srgbClr val="E4DCEE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685800" y="2578608"/>
            <a:ext cx="26517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Sessions · devices · workflows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31520" y="324612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281933"/>
          </a:solidFill>
          <a:ln w="12700">
            <a:solidFill>
              <a:srgbClr val="281933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2" name="Text 10"/>
          <p:cNvSpPr/>
          <p:nvPr/>
        </p:nvSpPr>
        <p:spPr>
          <a:xfrm>
            <a:off x="777240" y="3246120"/>
            <a:ext cx="23774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lang="en-US" sz="12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C3B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rm-assistant-memory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114800" y="324612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1C8FD6"/>
          </a:solidFill>
          <a:ln w="12700">
            <a:solidFill>
              <a:srgbClr val="1C8FD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4" name="Text 12"/>
          <p:cNvSpPr/>
          <p:nvPr/>
        </p:nvSpPr>
        <p:spPr>
          <a:xfrm>
            <a:off x="4160520" y="3246120"/>
            <a:ext cx="29260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Memory Store</a:t>
            </a:r>
            <a:endParaRPr lang="en-US" sz="1250" dirty="0"/>
          </a:p>
          <a:p>
            <a:pPr algn="ctr">
              <a:lnSpc>
                <a:spcPct val="95000"/>
              </a:lnSpc>
            </a:pPr>
            <a:r>
              <a:rPr lang="en-US" sz="950" i="1" dirty="0">
                <a:solidFill>
                  <a:srgbClr val="E4F3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· cross-session</a:t>
            </a:r>
            <a:r>
              <a:rPr lang="en-US" sz="1000" i="1" dirty="0">
                <a:solidFill>
                  <a:srgbClr val="E4F3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r>
              <a:rPr lang="en-US" sz="950" i="1" dirty="0">
                <a:solidFill>
                  <a:srgbClr val="E4F3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long-term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55280" y="3246120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495E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6" name="Text 14"/>
          <p:cNvSpPr/>
          <p:nvPr/>
        </p:nvSpPr>
        <p:spPr>
          <a:xfrm>
            <a:off x="8001000" y="3246120"/>
            <a:ext cx="32461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7C4D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Recalls preferences + history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931920" y="4343400"/>
            <a:ext cx="3383280" cy="475488"/>
          </a:xfrm>
          <a:prstGeom prst="roundRect">
            <a:avLst>
              <a:gd name="adj" fmla="val 15385"/>
            </a:avLst>
          </a:prstGeom>
          <a:solidFill>
            <a:srgbClr val="EFE9F5"/>
          </a:solidFill>
          <a:ln w="12700">
            <a:solidFill>
              <a:srgbClr val="E4DCEE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8" name="Text 16"/>
          <p:cNvSpPr/>
          <p:nvPr/>
        </p:nvSpPr>
        <p:spPr>
          <a:xfrm>
            <a:off x="3977640" y="4343400"/>
            <a:ext cx="329184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 = user · TTL · remember / forget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011680" y="3035808"/>
            <a:ext cx="914" cy="210312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0" name="Shape 18"/>
          <p:cNvSpPr/>
          <p:nvPr/>
        </p:nvSpPr>
        <p:spPr>
          <a:xfrm>
            <a:off x="3200400" y="3703320"/>
            <a:ext cx="914400" cy="914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1" name="Shape 19"/>
          <p:cNvSpPr/>
          <p:nvPr/>
        </p:nvSpPr>
        <p:spPr>
          <a:xfrm>
            <a:off x="7132320" y="3703320"/>
            <a:ext cx="822960" cy="914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2" name="Shape 20"/>
          <p:cNvSpPr/>
          <p:nvPr/>
        </p:nvSpPr>
        <p:spPr>
          <a:xfrm>
            <a:off x="5440680" y="4160520"/>
            <a:ext cx="914" cy="182880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3" name="Text 21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6E5F7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A HOMEGROWN FACTORY FALLS SHORT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Shape 23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6" name="Text 24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memory types, short-term (session) + long-term (store)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Shape 26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9" name="Text 27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Per-user scope + TTL — isolation and retention by policy, not by hand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Shape 29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2" name="Text 30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Continuity across sessions, devices and workflows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48640" y="651967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AI Gateway to AI Factory  ·  Private Banking  </a:t>
            </a:r>
            <a:r>
              <a:rPr lang="en-US" sz="90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 Twelve Foundry patterns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338560" y="65196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900" dirty="0"/>
          </a:p>
        </p:txBody>
      </p:sp>
      <p:sp>
        <p:nvSpPr>
          <p:cNvPr id="36" name="Shape 11">
            <a:extLst>
              <a:ext uri="{FF2B5EF4-FFF2-40B4-BE49-F238E27FC236}">
                <a16:creationId xmlns:a16="http://schemas.microsoft.com/office/drawing/2014/main" id="{61E116B6-1110-991B-8FB5-7BA77091BAD1}"/>
              </a:ext>
            </a:extLst>
          </p:cNvPr>
          <p:cNvSpPr/>
          <p:nvPr/>
        </p:nvSpPr>
        <p:spPr>
          <a:xfrm>
            <a:off x="4114342" y="2340864"/>
            <a:ext cx="3017977" cy="731520"/>
          </a:xfrm>
          <a:prstGeom prst="roundRect">
            <a:avLst>
              <a:gd name="adj" fmla="val 10000"/>
            </a:avLst>
          </a:prstGeom>
          <a:solidFill>
            <a:srgbClr val="7C4DBC"/>
          </a:solidFill>
          <a:ln w="12700">
            <a:solidFill>
              <a:srgbClr val="7C4DBC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based</a:t>
            </a:r>
          </a:p>
          <a:p>
            <a:pPr algn="ctr">
              <a:lnSpc>
                <a:spcPct val="95000"/>
              </a:lnSpc>
            </a:pPr>
            <a:r>
              <a:rPr lang="en-US" sz="900" i="1" dirty="0">
                <a:solidFill>
                  <a:srgbClr val="E4F3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In-session recall · short-term</a:t>
            </a:r>
            <a:endParaRPr lang="en-US" sz="1200" dirty="0"/>
          </a:p>
        </p:txBody>
      </p:sp>
      <p:sp>
        <p:nvSpPr>
          <p:cNvPr id="38" name="Shape 18">
            <a:extLst>
              <a:ext uri="{FF2B5EF4-FFF2-40B4-BE49-F238E27FC236}">
                <a16:creationId xmlns:a16="http://schemas.microsoft.com/office/drawing/2014/main" id="{50E417EF-9A7B-8C54-3BC1-5B786D0484BC}"/>
              </a:ext>
            </a:extLst>
          </p:cNvPr>
          <p:cNvSpPr/>
          <p:nvPr/>
        </p:nvSpPr>
        <p:spPr>
          <a:xfrm flipV="1">
            <a:off x="3200400" y="2788920"/>
            <a:ext cx="912114" cy="914400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40" name="Shape 19">
            <a:extLst>
              <a:ext uri="{FF2B5EF4-FFF2-40B4-BE49-F238E27FC236}">
                <a16:creationId xmlns:a16="http://schemas.microsoft.com/office/drawing/2014/main" id="{62B991F1-E897-0751-0C30-FF6855184840}"/>
              </a:ext>
            </a:extLst>
          </p:cNvPr>
          <p:cNvSpPr/>
          <p:nvPr/>
        </p:nvSpPr>
        <p:spPr>
          <a:xfrm>
            <a:off x="7086600" y="2633472"/>
            <a:ext cx="868680" cy="912572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6728858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7C4DB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5F7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874520" y="365760"/>
            <a:ext cx="9738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2819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Caching &amp; Cost — prompt cache + Model Router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7C4DB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cheapest, fastest token is the one you never send to the model twice.”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3FA34D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long prompt twice → the 2nd call is a prompt-cache hit; Model Router downshifts a trivial prompt; token metrics in App Insights.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281933"/>
          </a:solidFill>
          <a:ln w="12700">
            <a:solidFill>
              <a:srgbClr val="281933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685800" y="3246120"/>
            <a:ext cx="18288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063240" y="3154680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1C8FD6"/>
          </a:solidFill>
          <a:ln w="12700">
            <a:solidFill>
              <a:srgbClr val="1C8FD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2" name="Text 10"/>
          <p:cNvSpPr/>
          <p:nvPr/>
        </p:nvSpPr>
        <p:spPr>
          <a:xfrm>
            <a:off x="3108960" y="3154680"/>
            <a:ext cx="26060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lang="en-US" sz="12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E4F3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· hit / miss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324612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7C4DBC"/>
          </a:solidFill>
          <a:ln w="12700">
            <a:solidFill>
              <a:srgbClr val="7C4DBC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4" name="Text 12"/>
          <p:cNvSpPr/>
          <p:nvPr/>
        </p:nvSpPr>
        <p:spPr>
          <a:xfrm>
            <a:off x="6309360" y="3246120"/>
            <a:ext cx="21031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15400" y="31546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495E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6" name="Text 14"/>
          <p:cNvSpPr/>
          <p:nvPr/>
        </p:nvSpPr>
        <p:spPr>
          <a:xfrm>
            <a:off x="8961120" y="315468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7C4D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lang="en-US" sz="12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 · cached input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560320" y="3611880"/>
            <a:ext cx="502920" cy="914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18" name="Shape 16"/>
          <p:cNvSpPr/>
          <p:nvPr/>
        </p:nvSpPr>
        <p:spPr>
          <a:xfrm>
            <a:off x="5760720" y="3611880"/>
            <a:ext cx="502920" cy="914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19" name="Shape 17"/>
          <p:cNvSpPr/>
          <p:nvPr/>
        </p:nvSpPr>
        <p:spPr>
          <a:xfrm>
            <a:off x="8458200" y="3611880"/>
            <a:ext cx="457200" cy="914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0" name="Shape 18"/>
          <p:cNvSpPr/>
          <p:nvPr/>
        </p:nvSpPr>
        <p:spPr>
          <a:xfrm>
            <a:off x="246888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FE9F5"/>
          </a:solidFill>
          <a:ln w="12700">
            <a:solidFill>
              <a:srgbClr val="E4DCEE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1" name="Text 19"/>
          <p:cNvSpPr/>
          <p:nvPr/>
        </p:nvSpPr>
        <p:spPr>
          <a:xfrm>
            <a:off x="251460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cache: up to 100% off input (PTU)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7512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FE9F5"/>
          </a:solidFill>
          <a:ln w="12700">
            <a:solidFill>
              <a:srgbClr val="E4DCEE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3" name="Text 21"/>
          <p:cNvSpPr/>
          <p:nvPr/>
        </p:nvSpPr>
        <p:spPr>
          <a:xfrm>
            <a:off x="672084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Token metrics + budgets → App Insights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89120" y="4069080"/>
            <a:ext cx="914" cy="301752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5" name="Shape 23"/>
          <p:cNvSpPr/>
          <p:nvPr/>
        </p:nvSpPr>
        <p:spPr>
          <a:xfrm flipH="1">
            <a:off x="9182910" y="4069080"/>
            <a:ext cx="1012649" cy="301752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6" name="Text 24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6E5F7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A HOMEGROWN FACTORY FALLS SHORT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Shape 26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9" name="Text 27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caching — cached input tokens discounted, up to 100% off on Provisioned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Shape 29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2" name="Text 30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at the gateway — serve equivalent prompts with no model call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Shape 32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5" name="Text 33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 + PTU — cost-aware model choice per prompt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48640" y="651967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AI Gateway to AI Factory  ·  Private Banking  ·  Twelve Foundry patterns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338560" y="65196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055430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7C4DB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5F7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874520" y="365760"/>
            <a:ext cx="9738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2819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365 &amp; ROI — govern and prove value at scale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i="1" dirty="0">
                <a:solidFill>
                  <a:srgbClr val="7C4DB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can't manage what you can't see — and you can't fund what you can't measure.”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3FA34D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ROI-for-agents table ties cost to task completion &amp; time saved (live); Agent 365 inventory + Entra Agent ID shown in portal.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2286000" cy="868680"/>
          </a:xfrm>
          <a:prstGeom prst="roundRect">
            <a:avLst>
              <a:gd name="adj" fmla="val 8421"/>
            </a:avLst>
          </a:prstGeom>
          <a:solidFill>
            <a:srgbClr val="EFE9F5"/>
          </a:solidFill>
          <a:ln w="12700">
            <a:solidFill>
              <a:srgbClr val="E4DCEE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685800" y="3200400"/>
            <a:ext cx="219456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fleet</a:t>
            </a:r>
            <a:endParaRPr lang="en-US" sz="12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Studio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291840" y="3108960"/>
            <a:ext cx="2926080" cy="960120"/>
          </a:xfrm>
          <a:prstGeom prst="roundRect">
            <a:avLst>
              <a:gd name="adj" fmla="val 7619"/>
            </a:avLst>
          </a:prstGeom>
          <a:solidFill>
            <a:srgbClr val="1C8FD6"/>
          </a:solidFill>
          <a:ln w="12700">
            <a:solidFill>
              <a:srgbClr val="1C8FD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2" name="Text 10"/>
          <p:cNvSpPr/>
          <p:nvPr/>
        </p:nvSpPr>
        <p:spPr>
          <a:xfrm>
            <a:off x="3337560" y="3108960"/>
            <a:ext cx="283464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365</a:t>
            </a:r>
            <a:endParaRPr lang="en-US" sz="12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E4F3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 · identity · policy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812280" y="3108960"/>
            <a:ext cx="2880360" cy="960120"/>
          </a:xfrm>
          <a:prstGeom prst="roundRect">
            <a:avLst>
              <a:gd name="adj" fmla="val 7619"/>
            </a:avLst>
          </a:prstGeom>
          <a:solidFill>
            <a:srgbClr val="7C4DBC"/>
          </a:solidFill>
          <a:ln w="12700">
            <a:solidFill>
              <a:srgbClr val="7C4DBC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4" name="Text 12"/>
          <p:cNvSpPr/>
          <p:nvPr/>
        </p:nvSpPr>
        <p:spPr>
          <a:xfrm>
            <a:off x="6858000" y="3108960"/>
            <a:ext cx="278892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ROI for agents</a:t>
            </a:r>
            <a:endParaRPr lang="en-US" sz="125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ECE1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↔ outcome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0058400" y="320040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9050">
            <a:solidFill>
              <a:srgbClr val="C495E6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6" name="Text 14"/>
          <p:cNvSpPr/>
          <p:nvPr/>
        </p:nvSpPr>
        <p:spPr>
          <a:xfrm>
            <a:off x="10104120" y="3200400"/>
            <a:ext cx="137160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7C4D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Value + trend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926080" y="3566160"/>
            <a:ext cx="365760" cy="914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18" name="Shape 16"/>
          <p:cNvSpPr/>
          <p:nvPr/>
        </p:nvSpPr>
        <p:spPr>
          <a:xfrm>
            <a:off x="6217920" y="3566160"/>
            <a:ext cx="594360" cy="914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19" name="Shape 17"/>
          <p:cNvSpPr/>
          <p:nvPr/>
        </p:nvSpPr>
        <p:spPr>
          <a:xfrm>
            <a:off x="9692640" y="3566160"/>
            <a:ext cx="365760" cy="914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0" name="Shape 18"/>
          <p:cNvSpPr/>
          <p:nvPr/>
        </p:nvSpPr>
        <p:spPr>
          <a:xfrm>
            <a:off x="3200400" y="4279392"/>
            <a:ext cx="3108960" cy="475488"/>
          </a:xfrm>
          <a:prstGeom prst="roundRect">
            <a:avLst>
              <a:gd name="adj" fmla="val 15385"/>
            </a:avLst>
          </a:prstGeom>
          <a:solidFill>
            <a:srgbClr val="EFE9F5"/>
          </a:solidFill>
          <a:ln w="12700">
            <a:solidFill>
              <a:srgbClr val="E4DCEE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1" name="Text 19"/>
          <p:cNvSpPr/>
          <p:nvPr/>
        </p:nvSpPr>
        <p:spPr>
          <a:xfrm>
            <a:off x="3246120" y="4279392"/>
            <a:ext cx="30175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· Purview · Defender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720840" y="4279392"/>
            <a:ext cx="3108960" cy="475488"/>
          </a:xfrm>
          <a:prstGeom prst="roundRect">
            <a:avLst>
              <a:gd name="adj" fmla="val 15385"/>
            </a:avLst>
          </a:prstGeom>
          <a:solidFill>
            <a:srgbClr val="EFE9F5"/>
          </a:solidFill>
          <a:ln w="12700">
            <a:solidFill>
              <a:srgbClr val="E4DCEE"/>
            </a:solidFill>
            <a:prstDash val="solid"/>
          </a:ln>
          <a:effectLst>
            <a:outerShdw blurRad="88900" dist="25400" dir="8100000" algn="bl" rotWithShape="0">
              <a:srgbClr val="1A0F24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3" name="Text 21"/>
          <p:cNvSpPr/>
          <p:nvPr/>
        </p:nvSpPr>
        <p:spPr>
          <a:xfrm>
            <a:off x="6766560" y="4279392"/>
            <a:ext cx="30175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· completion · time saved · versions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0" y="4069080"/>
            <a:ext cx="914" cy="210312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5" name="Shape 23"/>
          <p:cNvSpPr/>
          <p:nvPr/>
        </p:nvSpPr>
        <p:spPr>
          <a:xfrm>
            <a:off x="8229600" y="4069080"/>
            <a:ext cx="914" cy="210312"/>
          </a:xfrm>
          <a:prstGeom prst="line">
            <a:avLst/>
          </a:prstGeom>
          <a:noFill/>
          <a:ln w="22225">
            <a:solidFill>
              <a:srgbClr val="8A7C9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ZA"/>
          </a:p>
        </p:txBody>
      </p:sp>
      <p:sp>
        <p:nvSpPr>
          <p:cNvPr id="26" name="Text 24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6E5F7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A HOMEGROWN FACTORY FALLS SHORT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Shape 26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9" name="Text 27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365 — org-wide inventory, identity and policy for every agent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Shape 29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2" name="Text 30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ROI for agents — connects operating cost to task completion, time saved, value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8F6FA"/>
          </a:solidFill>
          <a:ln w="12700">
            <a:solidFill>
              <a:srgbClr val="E4DC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Shape 32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7C4DBC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5" name="Text 33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81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versions, monitor trends, investigate weak traces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48640" y="651967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AI Gateway to AI Factory  ·  Private Banking  </a:t>
            </a:r>
            <a:r>
              <a:rPr lang="en-US" sz="90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 Twelve Foundry patterns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338560" y="65196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5F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451567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495E6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dirty="0">
                <a:solidFill>
                  <a:srgbClr val="FFFFF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Coexistence — and the close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214884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100" b="1">
                <a:solidFill>
                  <a:srgbClr val="C49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 runs an agent. </a:t>
            </a:r>
            <a:r>
              <a:rPr lang="en-US" sz="2100" b="1" dirty="0">
                <a:solidFill>
                  <a:srgbClr val="C49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runs the agent FACTORY. MCP + A2A join the two.</a:t>
            </a:r>
            <a:endParaRPr lang="en-US" sz="2100" dirty="0"/>
          </a:p>
          <a:p>
            <a:pPr marL="0" indent="0">
              <a:buNone/>
            </a:pPr>
            <a:r>
              <a:rPr lang="en-US" sz="1500">
                <a:solidFill>
                  <a:srgbClr val="E9DE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 your existing stack where it works </a:t>
            </a:r>
            <a:r>
              <a:rPr lang="en-US" sz="1500" dirty="0">
                <a:solidFill>
                  <a:srgbClr val="E9DE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add Foundry where you have gaps (identity, eval, tracing, grounding, safety) · unify governance with Purview and Agent </a:t>
            </a:r>
            <a:r>
              <a:rPr lang="en-US" sz="1500">
                <a:solidFill>
                  <a:srgbClr val="E9DE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365 across your estate.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640080" y="379476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100" b="1" dirty="0">
                <a:solidFill>
                  <a:srgbClr val="C49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 +  AI Gateway  +  Agentic Patterns.</a:t>
            </a:r>
            <a:endParaRPr lang="en-US" sz="2100" dirty="0"/>
          </a:p>
          <a:p>
            <a:pPr marL="0" indent="0">
              <a:buNone/>
            </a:pPr>
            <a:r>
              <a:rPr lang="en-US" sz="1500" dirty="0">
                <a:solidFill>
                  <a:srgbClr val="E9DE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Platform. Governance at scale. The fastest path to business value.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40080" y="5806440"/>
            <a:ext cx="7863840" cy="0"/>
          </a:xfrm>
          <a:prstGeom prst="line">
            <a:avLst/>
          </a:prstGeom>
          <a:noFill/>
          <a:ln w="19050">
            <a:solidFill>
              <a:srgbClr val="4E3B6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64008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3B4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Sridhar Arrabelly  ·  Sr Solution Engineer  ·  Microsoft AI Apps GBB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1125802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2011</Words>
  <Application>Microsoft Office PowerPoint</Application>
  <PresentationFormat>Widescreen</PresentationFormat>
  <Paragraphs>317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Aptos</vt:lpstr>
      <vt:lpstr>Aptos Display</vt:lpstr>
      <vt:lpstr>Arial</vt:lpstr>
      <vt:lpstr>Segoe UI</vt:lpstr>
      <vt:lpstr>Segoe UI Semibold</vt:lpstr>
      <vt:lpstr>Segoe UI Semilight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Sridhar Arrabelly</dc:creator>
  <cp:lastModifiedBy>Sridhar Arrabelly</cp:lastModifiedBy>
  <cp:revision>5</cp:revision>
  <dcterms:created xsi:type="dcterms:W3CDTF">2026-07-14T14:21:08Z</dcterms:created>
  <dcterms:modified xsi:type="dcterms:W3CDTF">2026-07-14T15:54:57Z</dcterms:modified>
</cp:coreProperties>
</file>