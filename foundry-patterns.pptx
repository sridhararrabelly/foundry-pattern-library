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7" r:id="rId2"/>
    <p:sldId id="258" r:id="rId3"/>
    <p:sldId id="259" r:id="rId4"/>
    <p:sldId id="272" r:id="rId5"/>
    <p:sldId id="273" r:id="rId6"/>
    <p:sldId id="266" r:id="rId7"/>
    <p:sldId id="274" r:id="rId8"/>
    <p:sldId id="260" r:id="rId9"/>
    <p:sldId id="261" r:id="rId10"/>
    <p:sldId id="276" r:id="rId11"/>
    <p:sldId id="268" r:id="rId13"/>
    <p:sldId id="277" r:id="rId14"/>
    <p:sldId id="262" r:id="rId12"/>
    <p:sldId id="263" r:id="rId15"/>
    <p:sldId id="267" r:id="rId16"/>
    <p:sldId id="275" r:id="rId17"/>
    <p:sldId id="265" r:id="rId19"/>
    <p:sldId id="264" r:id="rId18"/>
    <p:sldId id="269" r:id="rId20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3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8.xml"/><Relationship Id="rId19" Type="http://schemas.openxmlformats.org/officeDocument/2006/relationships/slide" Target="slides/slide17.xml"/><Relationship Id="rId20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23724-54E5-4DF4-8FF7-81F9185758A9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2C589E-DFF3-40E2-BF66-B2735D0DA03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2432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895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779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Microsoft Foundry Patterns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Runnable patterns for building, governing and operating agents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in GitHub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in Foundry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Reach in M365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 patterns   ·   12 demos   ·   for architects &amp; principal engineers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your gateway and cloud — add the agent factory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66928" y="1417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gives you MODEL ACCESS.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LiteLLM gateway (or Azure API Management) is the right pattern for that — one OpenAI-compatible endpoint, keys, budgets, routing across providers.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gives you the AGENT FACTORY.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runtime (Plan / Act / Observe), grounding (Microsoft IQ), identity, evaluation, tracing, memory, caching and safety plane AROUND the models — exactly the depth a homegrown factory lacks.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14400" y="44348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60120" y="4434840"/>
            <a:ext cx="32004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LiteLLM / APIM — model access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532120" y="443484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577840" y="4434840"/>
            <a:ext cx="56692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the agent factory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· Microsoft IQ · identity · eval · tracing · safety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06240" y="4956048"/>
            <a:ext cx="1325880" cy="914"/>
          </a:xfrm>
          <a:prstGeom prst="line">
            <a:avLst/>
          </a:prstGeom>
          <a:noFill/>
          <a:ln w="31750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160520" y="4553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add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Run-of-show — four groups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66928" y="1572768"/>
          <a:ext cx="5440680" cy="418795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PLATFORM FOUNDATION &amp; GOVERNANCE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gateway &amp; model access (APIM)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safety (Prompt Shields + Content Safety)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CONSTRUCTION &amp; KNOWLEDGE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Agent Service (prompt and hosted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IQ — the intelligence layer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Centralized Toolboxes (one governed MCP endpoint)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10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Memory (short-term + long-term)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/>
        </p:nvGraphicFramePr>
        <p:xfrm>
          <a:off x="6309360" y="1572768"/>
          <a:ext cx="5321808" cy="418795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3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ORCHESTRATION &amp; INTEROPERABILITY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Agentic Loop (build skills, not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 orchestration (Agent Framework)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Cross-cloud interop (MCP / A2A)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LIFECYCLE, ASSURANCE &amp; OPERATIONS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 &amp; release gate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Observability &amp; tracing (OpenTelemetry)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Cost &amp; latency (prompt cache + Model Router)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66928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Twelve patterns in four groups. One slide, one live demo each.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Platform foundation &amp; governance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governed model access and safety controls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01  AI gateway &amp; model access (APIM)        ·        08  AI safety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1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8247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gateway &amp; model access (APIM)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gateway gives you model access. Foundry gives you the agent factory.”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OpenAI-shaped call, keyless via Entra ID — 401 without a token, 200 with.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app /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 (APIM)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validate-azure-ad-token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gpt-5.4-mini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provider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ID token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identity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 stays — zero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Reframes gateway as commodity; factory as the differentiation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APIM + Foundry composition — no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safety (Prompt Shields + Content Safety)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“Your gateway checks tokens. Foundry checks the attack — even the one hidden in a document.”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LIVE + keyless: Prompt Shields blocks a direct jailbreak and a document-hidden XPIA; a clean question passes.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28803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User turn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20040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20040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Shields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jailbreak + indirect (XPIA)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7532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E4F3EA"/>
          </a:solidFill>
          <a:ln w="13970">
            <a:solidFill>
              <a:srgbClr val="8FC79E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→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Client doc — hidden XPIA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75320" y="420624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017520" y="3291840"/>
            <a:ext cx="960120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3383280" y="3977640"/>
            <a:ext cx="594360" cy="36576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 flipV="1">
            <a:off x="6903720" y="3017520"/>
            <a:ext cx="1371600" cy="411480"/>
          </a:xfrm>
          <a:prstGeom prst="line">
            <a:avLst/>
          </a:prstGeom>
          <a:noFill/>
          <a:ln w="25400">
            <a:solidFill>
              <a:srgbClr val="2E7D4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040880" y="2999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903720" y="3931920"/>
            <a:ext cx="1371600" cy="59436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040880" y="4315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deny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XPIA / indirect-injection defence — rarely built in-house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scoped, conditional-access identity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Purview DSPM for AI — one DLP / audit plane across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Agent construction &amp; knowledge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agents with governed knowledge, tools and memory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02  Foundry Agent Service  ·  03  Microsoft IQ  ·  12  Toolboxes  ·  10  Memory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2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245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Foundry Agent Service (prompt and hosted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didn't build a runtime, a vector store and an identity system. You called an API — or handed us a container.”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hosting models — declarative prompt agent + BYO-code hosted agent — both first-class, both with an Entra Agent ID.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· 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rm-assistant-prompt (config)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17720" y="26974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2697480"/>
            <a:ext cx="2880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Service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 · Hosted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rm-assistant-hosted (your code)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File Search RAG + function tool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82396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6968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container · Foundry-managed compute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6616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611880" y="4370832"/>
            <a:ext cx="26517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66560" y="4370832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12280" y="437083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Portal: chat · logs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8328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H="1">
            <a:off x="758952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201168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 flipV="1">
            <a:off x="1019556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 flipH="1">
            <a:off x="4937760" y="3474720"/>
            <a:ext cx="64008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29400" y="3474720"/>
            <a:ext cx="146304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Prompt-based: model + instructions + tools; File Search RAG (managed vector 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Hosted: your container on Foundry-managed compute — any framework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governable identity per agent, not a shared IAM role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IQ — the intelligence layer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“Web IQ grounds you in the world. Foundry IQ in your enterprise. Work IQ in how your org operates. Fabric IQ in what your business data means.”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via APIM + Azure AI Search via a Foundry agent — both live, both cited.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client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Bedrock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— LIVE via APIM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Azure AI Search — LIVE enterprise index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— managed KB (NARRATED)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Fabric IQ + Work IQ — NARRATED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APIM subscription key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upstream Web IQ key stays on gateway</a:t>
            </a: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661C5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661C5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Basic v2 exception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on APIM — authenticated, metered, upstream key retained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AzureAISearchTool — project connection + cited enterprise index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IQ, Fabric IQ and Work IQ — broader narrated layers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360920" y="2139696"/>
            <a:ext cx="397763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661C5"/>
                </a:solidFill>
                <a:latin typeface="Aptos"/>
              </a:rPr>
              <a:t>SOLID = LIVE    ·    DASHED = NARRATED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Centralized Toolboxes (one governed MCP endpoint)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don’t wire tools to agents. You run a tool plane — and the agents subscribe.”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Curate tools once behind one MCP endpoint; promote a version and every agent follows — nothing redeployed.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LangGraph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Toolbox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MCP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— incl. APIM Web IQ (Pattern 3)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Code Interpreter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Tool search — 4 defs → 2 meta-tools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(preview)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Promote a version → default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agent redeployed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endpoint, not N integrations — swap a tool without touching agent code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held server-side; guardrails applied at the toolbox level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 search — a hundred tools without a hundred tool definitions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727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 (short-term + long-term)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stateless agent meets every client as a stranger. Memory turns transactions into a relationship.”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per-user Memory Store; the RM assistant recalls the client's risk appetite across sessions — remember / forget on command.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542032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· devices ·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3246120"/>
            <a:ext cx="2606040" cy="841248"/>
          </a:xfrm>
          <a:prstGeom prst="roundRect">
            <a:avLst>
              <a:gd name="adj" fmla="val 8696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246120"/>
            <a:ext cx="25146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rm-assistant-memory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977640" y="2697480"/>
            <a:ext cx="3063240" cy="749808"/>
          </a:xfrm>
          <a:prstGeom prst="roundRect">
            <a:avLst>
              <a:gd name="adj" fmla="val 9756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023360" y="2697480"/>
            <a:ext cx="297180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based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In-session recall · short-term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977640" y="3611880"/>
            <a:ext cx="3063240" cy="841248"/>
          </a:xfrm>
          <a:prstGeom prst="roundRect">
            <a:avLst>
              <a:gd name="adj" fmla="val 869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023360" y="3611880"/>
            <a:ext cx="29718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Store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· cross-session · long-term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818120" y="3246120"/>
            <a:ext cx="3474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863840" y="3246120"/>
            <a:ext cx="338328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Recalls preferences + history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7640" y="457200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023360" y="4572000"/>
            <a:ext cx="297180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 = user · TTL · remember / forget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011680" y="2999232"/>
            <a:ext cx="914" cy="24688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3337560" y="3072384"/>
            <a:ext cx="640080" cy="44805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37560" y="3749040"/>
            <a:ext cx="64008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040880" y="310896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7040880" y="3749040"/>
            <a:ext cx="77724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504688" y="4453128"/>
            <a:ext cx="914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memory types, short-term (session) + long-term (store)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Per-user scope + TTL — isolation and retention by policy, not by hand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Continuity across sessions, devices and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Orchestration &amp; interoperability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Compose skills, specialists and cross-cloud systems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04  Agentic Loop   ·   05  Multi-agent orchestration   ·   09  Cross-cloud interop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3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2588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Agentic Loop (build skills, not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“Don't orchestrate fifty agents. Give one good loop the right skills — and let it reason.”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Plan / Act / Observe loop, N skills-as-folders; engine swapped to Copilot SDK BYOM.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887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44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Reason (Plan)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463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920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Act — skill / 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039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49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46320" y="248716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9204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SKILL.md × 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3152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2990088"/>
            <a:ext cx="914" cy="1645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H="1">
            <a:off x="2423160" y="4160520"/>
            <a:ext cx="7315200" cy="914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7383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4231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120640" y="41879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loop back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3280" y="4485554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9000" y="4485554"/>
            <a:ext cx="5303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Engine: Copilot SDK BYOM — your Azure model +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to maintain vs a brittle handoff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portable across tools / models; add one in minutes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BYOM — proven Copilot loop, your model + your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orchestration (Agent Framework)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“Orchestrate specialists when the problem is genuinely parallel — not because a framework let you.”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 specialists, published as one Foundry-managed Responses endpoint.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Foundry-hosted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63440" y="25603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09160" y="256032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6344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09160" y="406908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Officer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06840" y="32461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052560" y="324612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Fan-in result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 flipV="1">
            <a:off x="3291840" y="297180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91840" y="384048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2400" y="297180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7772400" y="384048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2999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orchestration (concurrent / sequential / handoff / Magentic)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endpoint · compute · versions · Entra Agent ID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guidance: default to Pattern 4; escalate when earned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Cross-cloud interop (MCP / A2A)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“Bedrock runs an agent. Foundry runs the agent factory. MCP and A2A let each cloud do what it's best at.”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calls an AWS tool over MCP (mock Lambda); A2A hands off to a Bedrock agent.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4709160" cy="2240280"/>
          </a:xfrm>
          <a:prstGeom prst="roundRect">
            <a:avLst>
              <a:gd name="adj" fmla="val 3265"/>
            </a:avLst>
          </a:prstGeom>
          <a:solidFill>
            <a:srgbClr val="F2ECFA"/>
          </a:solidFill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Azure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417320" y="32918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463040" y="3291840"/>
            <a:ext cx="30632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2606040"/>
            <a:ext cx="4800600" cy="2240280"/>
          </a:xfrm>
          <a:prstGeom prst="roundRect">
            <a:avLst>
              <a:gd name="adj" fmla="val 3265"/>
            </a:avLst>
          </a:prstGeom>
          <a:solidFill>
            <a:srgbClr val="FBF3EB"/>
          </a:solidFill>
          <a:ln w="12700">
            <a:solidFill>
              <a:srgbClr val="D89B6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951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B5732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35240" y="3063240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80960" y="3063240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AWS tool — Lambda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35240" y="4041648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680960" y="4041648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40680" y="34290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0" y="3429000"/>
            <a:ext cx="13258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/ A2A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0" y="3749040"/>
            <a:ext cx="8686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6858000" y="3401568"/>
            <a:ext cx="777240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858000" y="393192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20840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Wrap, don't rewrite — call AWS tools from Foundry via MCP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 hand-off exposes Foundry agents to Bedrock and 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overlay (Entra + Purview) spans both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Lifecycle, assurance &amp; operations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Evaluate, observe and optimize every release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07  Evaluation &amp; release gate   ·   06  Observability   ·   11  Cost &amp; latency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4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221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Evaluation &amp; release gate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“If you can't score it, you can't ship it safely — and you can't optimize it.”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cloud scorecard + CI release gate; a wrong answer blocks the PR.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+ planted wrong row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520440" y="29718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66160" y="2971800"/>
            <a:ext cx="16916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669280" y="288036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15000" y="2880360"/>
            <a:ext cx="2697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groundedness · tool-accuracy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69680" y="2971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1540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5468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30352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291840"/>
            <a:ext cx="4114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669280" y="4114800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715000" y="4114800"/>
            <a:ext cx="26974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59168" y="3703320"/>
            <a:ext cx="914" cy="41148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69680" y="411480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15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 → blocks merge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95560" y="3611880"/>
            <a:ext cx="914" cy="50292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Agent-grade evaluators (groundedness, tool-call, intent)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Scores locally + uploads to the Foundry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 on every PR — regressions can't merge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 &amp; tracing (OpenTelemetry)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real Foundry agent, then one traced turn — same run in the portal AND App Insights. And it's OTel, so it's yours.”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Metadata-only OTel trace in Foundry + App Insights; content requires explicit opt-in.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rm-assistant-traced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401568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447288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invoke_agent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17336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163056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33104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78824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36392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52160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567928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931920" y="3456432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77640" y="3456432"/>
            <a:ext cx="420624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spans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 only · tokens · latency</a:t>
            </a:r>
          </a:p>
        </p:txBody>
      </p:sp>
      <p:sp>
        <p:nvSpPr>
          <p:cNvPr id="27" name="Shape 25"/>
          <p:cNvSpPr/>
          <p:nvPr/>
        </p:nvSpPr>
        <p:spPr>
          <a:xfrm>
            <a:off x="4626864" y="3145536"/>
            <a:ext cx="859536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 flipH="1">
            <a:off x="6309360" y="3145536"/>
            <a:ext cx="411480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85800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1520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Agents + Tracing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453128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498848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Insights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220456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266176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/ Grafana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 flipH="1">
            <a:off x="2331720" y="4169664"/>
            <a:ext cx="2971800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80760" y="4169664"/>
            <a:ext cx="18288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858000" y="4169664"/>
            <a:ext cx="3008376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shows in the Agents list; run traced server-side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+ cost + latency per span — observability &amp; FinOps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— portable to Datadog / Grafana, no lock-in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 &amp; latency (prompt cache + Model Router)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cheapest, fastest token is the one you never send to the model twice.”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long prompt twice → the 2nd call is a prompt-cache hit; Model Router downshifts a trivial prompt; token metrics in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063240" y="31546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108960" y="3154680"/>
            <a:ext cx="2606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· hit / miss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63640" y="32461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915400" y="31546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61120" y="315468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 · cached input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5603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7607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611880"/>
            <a:ext cx="4572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46888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51460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cache: up to 100% off input (PTU)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67512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2084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metrics + budgets → App Insights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389120" y="4069080"/>
            <a:ext cx="914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H="1">
            <a:off x="8686800" y="4069080"/>
            <a:ext cx="1508760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caching — cached input tokens discounted, up to 100% off on Provisioned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at the gateway — serve equivalent prompts with no model call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 + PTU — cost-aware model choice per prompt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66928" y="365760"/>
            <a:ext cx="119055" cy="119055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03905" y="365760"/>
            <a:ext cx="119055" cy="119055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502737"/>
            <a:ext cx="119055" cy="119055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03905" y="502737"/>
            <a:ext cx="119055" cy="119055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32688" y="310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Coexistence — and the close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 runs an agent. Foundry runs the agent FACTORY. MCP + A2A join the two.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Keep your existing stack where it works · add Foundry where you have gaps (identity, eval, tracing, grounding, safety) · unify governance with Purview and Agent 365 across your estate.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39319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 +  AI Gateway  +  Agentic Patterns.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Platform. Governance at scale. The fastest path to business value.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5943600"/>
            <a:ext cx="7863840" cy="0"/>
          </a:xfrm>
          <a:prstGeom prst="line">
            <a:avLst/>
          </a:prstGeom>
          <a:noFill/>
          <a:ln w="1587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 library  ·  github.com/SridharArrabelly/foundry-pattern-library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66928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2303</Words>
  <Application>Microsoft Office PowerPoint</Application>
  <PresentationFormat>Widescreen</PresentationFormat>
  <Paragraphs>392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Segoe UI</vt:lpstr>
      <vt:lpstr>Segoe UI Semibold</vt:lpstr>
      <vt:lpstr>Segoe UI Semilight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Sridhar Arrabelly</dc:creator>
  <cp:lastModifiedBy>Sridhar Arrabelly</cp:lastModifiedBy>
  <cp:revision>1</cp:revision>
  <dcterms:created xsi:type="dcterms:W3CDTF">2026-08-23T09:51:01Z</dcterms:created>
  <dcterms:modified xsi:type="dcterms:W3CDTF">2026-08-23T09:51:32Z</dcterms:modified>
</cp:coreProperties>
</file>