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"/>
  </p:notesMasterIdLst>
  <p:sldIdLst>
    <p:sldId id="257" r:id="rId2"/>
    <p:sldId id="258" r:id="rId3"/>
    <p:sldId id="259" r:id="rId4"/>
    <p:sldId id="272" r:id="rId5"/>
    <p:sldId id="273" r:id="rId6"/>
    <p:sldId id="266" r:id="rId7"/>
    <p:sldId id="274" r:id="rId8"/>
    <p:sldId id="260" r:id="rId9"/>
    <p:sldId id="261" r:id="rId10"/>
    <p:sldId id="276" r:id="rId11"/>
    <p:sldId id="268" r:id="rId13"/>
    <p:sldId id="277" r:id="rId14"/>
    <p:sldId id="262" r:id="rId12"/>
    <p:sldId id="263" r:id="rId15"/>
    <p:sldId id="267" r:id="rId16"/>
    <p:sldId id="275" r:id="rId17"/>
    <p:sldId id="265" r:id="rId19"/>
    <p:sldId id="264" r:id="rId18"/>
    <p:sldId id="269" r:id="rId20"/>
    <p:sldId id="271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6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4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3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8.xml"/><Relationship Id="rId19" Type="http://schemas.openxmlformats.org/officeDocument/2006/relationships/slide" Target="slides/slide17.xml"/><Relationship Id="rId20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723724-54E5-4DF4-8FF7-81F9185758A9}" type="datetimeFigureOut">
              <a:rPr lang="en-ZA" smtClean="0"/>
              <a:t>2026/08/23</a:t>
            </a:fld>
            <a:endParaRPr lang="en-Z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Z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2C589E-DFF3-40E2-BF66-B2735D0DA03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9243247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8389521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0779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Microsoft Foundry Patterns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Runnable patterns for building, governing and operating agents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Build in GitHub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  → 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 in Foundry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  → 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Reach in M365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12 patterns   ·   12 demos   ·   for architects &amp; principal engineers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110551" cy="11055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94121" y="310896"/>
            <a:ext cx="110551" cy="11055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438089"/>
            <a:ext cx="110551" cy="11055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94121" y="438089"/>
            <a:ext cx="110551" cy="11055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2560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676656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Keep your gateway and cloud — add the agent factory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66928" y="14173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 gateway gives you MODEL ACCESS.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LiteLLM gateway (or Azure API Management) is the right pattern for that — one OpenAI-compatible endpoint, keys, budgets, routing across providers.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66928" y="265176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gives you the AGENT FACTORY.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The runtime (Plan / Act / Observe), grounding (Microsoft IQ), identity, evaluation, tracing, memory, caching and safety plane AROUND the models — exactly the depth a homegrown factory lacks.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914400" y="4434840"/>
            <a:ext cx="3291840" cy="1051560"/>
          </a:xfrm>
          <a:prstGeom prst="roundRect">
            <a:avLst>
              <a:gd name="adj" fmla="val 6957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960120" y="4434840"/>
            <a:ext cx="320040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gateway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LiteLLM / APIM — model access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532120" y="4434840"/>
            <a:ext cx="5760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577840" y="4434840"/>
            <a:ext cx="566928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the agent factory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runtime · Microsoft IQ · identity · eval · tracing · safety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206240" y="4956048"/>
            <a:ext cx="1325880" cy="914"/>
          </a:xfrm>
          <a:prstGeom prst="line">
            <a:avLst/>
          </a:prstGeom>
          <a:noFill/>
          <a:ln w="31750">
            <a:solidFill>
              <a:srgbClr val="866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160520" y="45537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add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110551" cy="11055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94121" y="310896"/>
            <a:ext cx="110551" cy="11055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438089"/>
            <a:ext cx="110551" cy="11055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94121" y="438089"/>
            <a:ext cx="110551" cy="11055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2560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676656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Run-of-show — four groups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8" name="Table 0"/>
          <p:cNvGraphicFramePr>
            <a:graphicFrameLocks noGrp="1"/>
          </p:cNvGraphicFramePr>
          <p:nvPr/>
        </p:nvGraphicFramePr>
        <p:xfrm>
          <a:off x="566928" y="1572768"/>
          <a:ext cx="5440680" cy="4187952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Index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Patterns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PLATFORM FOUNDATION &amp; GOVERNANCE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/>
                        <a:t/>
                      </a:r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 gateway &amp; model access (APIM)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 safety (Prompt Shields + Content Safety)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 CONSTRUCTION &amp; KNOWLEDGE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/>
                        <a:t/>
                      </a:r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Foundry Agent Service (prompt and hosted agents)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Microsoft IQ — the intelligence layer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Centralized Toolboxes (one governed MCP endpoint)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10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Memory (short-term + long-term)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2766632"/>
                  </a:ext>
                </a:extLst>
              </a:tr>
            </a:tbl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/>
        </p:nvGraphicFramePr>
        <p:xfrm>
          <a:off x="6309360" y="1572768"/>
          <a:ext cx="5321808" cy="4187952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31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Index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Patterns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ORCHESTRATION &amp; INTEROPERABILITY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/>
                        <a:t/>
                      </a:r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Agentic Loop (build skills, not agents)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Multi-agent orchestration (Agent Framework)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Cross-cloud interop (MCP / A2A)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LIFECYCLE, ASSURANCE &amp; OPERATIONS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/>
                        <a:t/>
                      </a:r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Evaluation &amp; release gate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Observability &amp; tracing (OpenTelemetry)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11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Cost &amp; latency (prompt cache + Model Router)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391649"/>
                  </a:ext>
                </a:extLst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66928" y="60533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Twelve patterns in four groups. One slide, one live demo each.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8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9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Platform foundation &amp; governance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 governed model access and safety controls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01  AI gateway &amp; model access (APIM)        ·        08  AI safety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1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68247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 gateway &amp; model access (APIM)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“The gateway gives you model access. Foundry gives you the agent factory.”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OpenAI-shaped call, keyless via Entra ID — 401 without a token, 200 with.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5603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app /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 API key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343400" y="320040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389120" y="3200400"/>
            <a:ext cx="265176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 (APIM)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validate-azure-ad-token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gpt-5.4-mini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823960" y="411480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69680" y="411480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other cloud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provider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383280" y="3703320"/>
            <a:ext cx="9601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246120" y="331012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ID token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 flipV="1">
            <a:off x="7086600" y="3108960"/>
            <a:ext cx="173736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223760" y="314553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identity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7086600" y="3840480"/>
            <a:ext cx="1737360" cy="64008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gateway stays — zero rip-and-replace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Reframes gateway as commodity; factory as the differentiation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APIM + Foundry composition — no rip-and-replace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08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 safety (Prompt Shields + Content Safety)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“Your gateway checks tokens. Foundry checks the attack — even the one hidden in a document.”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LIVE + keyless: Prompt Shields blocks a direct jailbreak and a document-hidden XPIA; a clean question passes.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288036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2880360"/>
            <a:ext cx="21945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User turn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77640" y="3200400"/>
            <a:ext cx="2926080" cy="960120"/>
          </a:xfrm>
          <a:prstGeom prst="roundRect">
            <a:avLst>
              <a:gd name="adj" fmla="val 7619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023360" y="3200400"/>
            <a:ext cx="283464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Shields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jailbreak + indirect (XPIA)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275320" y="2651760"/>
            <a:ext cx="3108960" cy="731520"/>
          </a:xfrm>
          <a:prstGeom prst="roundRect">
            <a:avLst>
              <a:gd name="adj" fmla="val 10000"/>
            </a:avLst>
          </a:prstGeom>
          <a:solidFill>
            <a:srgbClr val="E4F3EA"/>
          </a:solidFill>
          <a:ln w="13970">
            <a:solidFill>
              <a:srgbClr val="8FC79E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321040" y="2651760"/>
            <a:ext cx="30175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E7D4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→ 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1520" y="416052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77240" y="4160520"/>
            <a:ext cx="25603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Client doc — hidden XPIA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275320" y="4206240"/>
            <a:ext cx="3108960" cy="731520"/>
          </a:xfrm>
          <a:prstGeom prst="roundRect">
            <a:avLst>
              <a:gd name="adj" fmla="val 10000"/>
            </a:avLst>
          </a:prstGeom>
          <a:solidFill>
            <a:srgbClr val="FBE0DC"/>
          </a:solidFill>
          <a:ln w="15875">
            <a:solidFill>
              <a:srgbClr val="E5988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321040" y="4206240"/>
            <a:ext cx="30175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C42B1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BLOCKED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017520" y="3291840"/>
            <a:ext cx="960120" cy="2286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 flipV="1">
            <a:off x="3383280" y="3977640"/>
            <a:ext cx="594360" cy="36576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 flipV="1">
            <a:off x="6903720" y="3017520"/>
            <a:ext cx="1371600" cy="411480"/>
          </a:xfrm>
          <a:prstGeom prst="line">
            <a:avLst/>
          </a:prstGeom>
          <a:noFill/>
          <a:ln w="25400">
            <a:solidFill>
              <a:srgbClr val="2E7D4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7040880" y="2999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2E7D4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allow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903720" y="3931920"/>
            <a:ext cx="1371600" cy="594360"/>
          </a:xfrm>
          <a:prstGeom prst="line">
            <a:avLst/>
          </a:prstGeom>
          <a:noFill/>
          <a:ln w="25400">
            <a:solidFill>
              <a:srgbClr val="C42B1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7040880" y="431596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42B1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deny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XPIA / indirect-injection defence — rarely built in-house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scoped, conditional-access identity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Purview DSPM for AI — one DLP / audit plane across clouds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Agent construction &amp; knowledge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Build agents with governed knowledge, tools and memory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02  Foundry Agent Service  ·  03  Microsoft IQ  ·  12  Toolboxes  ·  10  Memory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2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762454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Foundry Agent Service (prompt and hosted agents)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 didn't build a runtime, a vector store and an identity system. You called an API — or handed us a container.”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Two hosting models — declarative prompt agent + BYO-code hosted agent — both first-class, both with an Entra Agent ID.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69748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2697480"/>
            <a:ext cx="26517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 · Prompt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rm-assistant-prompt (config)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617720" y="2697480"/>
            <a:ext cx="2971800" cy="777240"/>
          </a:xfrm>
          <a:prstGeom prst="roundRect">
            <a:avLst>
              <a:gd name="adj" fmla="val 9412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663440" y="2697480"/>
            <a:ext cx="28803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 Service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517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 · Hosted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rm-assistant-hosted (your code)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40080" y="3703320"/>
            <a:ext cx="2743200" cy="658368"/>
          </a:xfrm>
          <a:prstGeom prst="roundRect">
            <a:avLst>
              <a:gd name="adj" fmla="val 11111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85800" y="3703320"/>
            <a:ext cx="265176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File Search RAG + function tool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823960" y="3703320"/>
            <a:ext cx="2743200" cy="658368"/>
          </a:xfrm>
          <a:prstGeom prst="roundRect">
            <a:avLst>
              <a:gd name="adj" fmla="val 11111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869680" y="3703320"/>
            <a:ext cx="265176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container · Foundry-managed compute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566160" y="4370832"/>
            <a:ext cx="27432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3611880" y="4370832"/>
            <a:ext cx="265176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governed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766560" y="4370832"/>
            <a:ext cx="2697480" cy="566928"/>
          </a:xfrm>
          <a:prstGeom prst="roundRect">
            <a:avLst>
              <a:gd name="adj" fmla="val 12903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812280" y="4370832"/>
            <a:ext cx="260604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Portal: chat · logs · versions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383280" y="3086100"/>
            <a:ext cx="123444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 flipH="1">
            <a:off x="7589520" y="3086100"/>
            <a:ext cx="123444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2011680" y="3474720"/>
            <a:ext cx="914" cy="2286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 flipV="1">
            <a:off x="10195560" y="3474720"/>
            <a:ext cx="914" cy="2286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 flipH="1">
            <a:off x="4937760" y="3474720"/>
            <a:ext cx="640080" cy="8961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629400" y="3474720"/>
            <a:ext cx="1463040" cy="8961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Prompt-based: model + instructions + tools; File Search RAG (managed vector store)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Hosted: your container on Foundry-managed compute — any framework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governable identity per agent, not a shared IAM role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IQ — the intelligence layer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“Web IQ grounds you in the world. Foundry IQ in your enterprise. Work IQ in how your org operates. Fabric IQ in what your business data means.”</a:t>
            </a:r>
            <a:endParaRPr kumimoji="0" lang="en-US" sz="1450" b="1" i="1" u="none" strike="noStrike" kern="1200" cap="none" spc="0" normalizeH="0" baseline="0" noProof="0" dirty="0">
              <a:ln>
                <a:noFill/>
              </a:ln>
              <a:solidFill>
                <a:srgbClr val="8661C5"/>
              </a:solidFill>
              <a:effectLst/>
              <a:uLnTx/>
              <a:uFillTx/>
              <a:latin typeface="Segoe UI Semibold" pitchFamily="34" charset="0"/>
              <a:ea typeface="+mn-ea"/>
              <a:cs typeface="Segoe UI Semibold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Web IQ via APIM + Azure AI Search via a Foundry agent — both live, both cited.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306324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306324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 client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· Copilot · Bedrock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77640" y="30632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023360" y="306324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governed MCP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360920" y="243230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406640" y="243230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Web IQ — LIVE via APIM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60920" y="307238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406640" y="307238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-120"/>
              </a:rPr>
              <a:t>Azure AI Search — LIVE enterprise index</a:t>
            </a:r>
            <a:endParaRPr kumimoji="0" lang="en-US" sz="1150" b="1" i="0" u="none" strike="noStrike" kern="1200" cap="none" spc="0" normalizeH="0" baseline="0" noProof="0" dirty="0">
              <a:ln>
                <a:noFill/>
              </a:ln>
              <a:solidFill>
                <a:srgbClr val="8661C5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360920" y="371246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406640" y="371246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IQ — managed KB (NARRATED)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360920" y="435254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406640" y="435254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Fabric IQ + Work IQ — NARRATED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02920" y="4315968"/>
            <a:ext cx="3063240" cy="566928"/>
          </a:xfrm>
          <a:prstGeom prst="roundRect">
            <a:avLst>
              <a:gd name="adj" fmla="val 12903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48640" y="4315968"/>
            <a:ext cx="29718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APIM subscription key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upstream Web IQ key stays on gateway</a:t>
            </a:r>
          </a:p>
        </p:txBody>
      </p:sp>
      <p:sp>
        <p:nvSpPr>
          <p:cNvPr id="28" name="Shape 26"/>
          <p:cNvSpPr/>
          <p:nvPr/>
        </p:nvSpPr>
        <p:spPr>
          <a:xfrm>
            <a:off x="3291840" y="3520440"/>
            <a:ext cx="68580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 flipV="1">
            <a:off x="6492240" y="2715768"/>
            <a:ext cx="868680" cy="621792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6492240" y="3355848"/>
            <a:ext cx="868680" cy="118872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492240" y="3611880"/>
            <a:ext cx="868680" cy="384048"/>
          </a:xfrm>
          <a:prstGeom prst="line">
            <a:avLst/>
          </a:prstGeom>
          <a:noFill/>
          <a:ln w="22225">
            <a:solidFill>
              <a:srgbClr val="8661C5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92240" y="3749040"/>
            <a:ext cx="868680" cy="886968"/>
          </a:xfrm>
          <a:prstGeom prst="line">
            <a:avLst/>
          </a:prstGeom>
          <a:noFill/>
          <a:ln w="22225">
            <a:solidFill>
              <a:srgbClr val="8661C5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920240" y="3977640"/>
            <a:ext cx="914" cy="33832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2103120" y="40233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Basic v2 exception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Web IQ on APIM — authenticated, metered, upstream key retained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AzureAISearchTool — project connection + cited enterprise index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IQ, Fabric IQ and Work IQ — broader narrated layers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7360920" y="2139696"/>
            <a:ext cx="397763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661C5"/>
                </a:solidFill>
                <a:latin typeface="Aptos"/>
              </a:rPr>
              <a:t>SOLID = LIVE    ·    DASHED = NARRATED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12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Centralized Toolboxes (one governed MCP endpoint)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 don’t wire tools to agents. You run a tool plane — and the agents subscribe.”</a:t>
            </a:r>
            <a:endParaRPr kumimoji="0" lang="en-US" sz="1450" b="1" i="1" u="none" strike="noStrike" kern="1200" cap="none" spc="0" normalizeH="0" baseline="0" noProof="0" dirty="0">
              <a:ln>
                <a:noFill/>
              </a:ln>
              <a:solidFill>
                <a:srgbClr val="8661C5"/>
              </a:solidFill>
              <a:effectLst/>
              <a:uLnTx/>
              <a:uFillTx/>
              <a:latin typeface="Segoe UI Semibold" pitchFamily="34" charset="0"/>
              <a:ea typeface="+mn-ea"/>
              <a:cs typeface="Segoe UI Semibold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Curate tools once behind one MCP endpoint; promote a version and every agent follows — nothing redeployed.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306324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306324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Agents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· Copilot · LangGraph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77640" y="30632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023360" y="306324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Toolbox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MCP endpoint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360920" y="243230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406640" y="243230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 servers — incl. APIM Web IQ (Pattern 3)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60920" y="307238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406640" y="307238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-120"/>
              </a:rPr>
              <a:t>Code Interpreter</a:t>
            </a:r>
            <a:endParaRPr kumimoji="0" lang="en-US" sz="115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360920" y="371246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406640" y="371246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-120"/>
              </a:rPr>
              <a:t>Tool search — 4 defs → 2 meta-tools</a:t>
            </a:r>
            <a:endParaRPr kumimoji="0" lang="en-US" sz="115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360920" y="435254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406640" y="435254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Skills (preview)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02920" y="4315968"/>
            <a:ext cx="3063240" cy="566928"/>
          </a:xfrm>
          <a:prstGeom prst="roundRect">
            <a:avLst>
              <a:gd name="adj" fmla="val 12903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48640" y="4315968"/>
            <a:ext cx="29718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Promote a version → default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 agent redeployed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291840" y="3520440"/>
            <a:ext cx="68580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 flipV="1">
            <a:off x="6492240" y="2715768"/>
            <a:ext cx="868680" cy="62179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6492240" y="3355848"/>
            <a:ext cx="868680" cy="11887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492240" y="3611880"/>
            <a:ext cx="868680" cy="38404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92240" y="3749040"/>
            <a:ext cx="868680" cy="88696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920240" y="3977640"/>
            <a:ext cx="914" cy="33832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2103120" y="40233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endpoint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endpoint, not N integrations — swap a tool without touching agent code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Credentials held server-side; guardrails applied at the toolbox level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 search — a hundred tools without a hundred tool definitions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87277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Memory (short-term + long-term)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“A stateless agent meets every client as a stranger. Memory turns transactions into a relationship.”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Create a per-user Memory Store; the RM assistant recalls the client's risk appetite across sessions — remember / forget on command.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542032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2542032"/>
            <a:ext cx="26517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Sessions · devices · workflows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31520" y="3246120"/>
            <a:ext cx="2606040" cy="841248"/>
          </a:xfrm>
          <a:prstGeom prst="roundRect">
            <a:avLst>
              <a:gd name="adj" fmla="val 8696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77240" y="3246120"/>
            <a:ext cx="251460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rm-assistant-memory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977640" y="2697480"/>
            <a:ext cx="3063240" cy="749808"/>
          </a:xfrm>
          <a:prstGeom prst="roundRect">
            <a:avLst>
              <a:gd name="adj" fmla="val 9756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023360" y="2697480"/>
            <a:ext cx="2971800" cy="7498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Session based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CE1F8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In-session recall · short-term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3977640" y="3611880"/>
            <a:ext cx="3063240" cy="841248"/>
          </a:xfrm>
          <a:prstGeom prst="roundRect">
            <a:avLst>
              <a:gd name="adj" fmla="val 8696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023360" y="3611880"/>
            <a:ext cx="297180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Memory Store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· cross-session · long-term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818120" y="3246120"/>
            <a:ext cx="34747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863840" y="3246120"/>
            <a:ext cx="338328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Recalls preferences + history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977640" y="4572000"/>
            <a:ext cx="3063240" cy="384048"/>
          </a:xfrm>
          <a:prstGeom prst="roundRect">
            <a:avLst>
              <a:gd name="adj" fmla="val 19048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023360" y="4572000"/>
            <a:ext cx="297180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scope = user · TTL · remember / forget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2011680" y="2999232"/>
            <a:ext cx="914" cy="24688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 flipV="1">
            <a:off x="3337560" y="3072384"/>
            <a:ext cx="640080" cy="448056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337560" y="3749040"/>
            <a:ext cx="640080" cy="27432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040880" y="3108960"/>
            <a:ext cx="77724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7040880" y="3749040"/>
            <a:ext cx="777240" cy="27432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504688" y="4453128"/>
            <a:ext cx="914" cy="11887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Two memory types, short-term (session) + long-term (store)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Per-user scope + TTL — isolation and retention by policy, not by hand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Continuity across sessions, devices and workflows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Orchestration &amp; interoperability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Compose skills, specialists and cross-cloud systems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04  Agentic Loop   ·   05  Multi-agent orchestration   ·   09  Cross-cloud interop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3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325881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Agentic Loop (build skills, not agents)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“Don't orchestrate fifty agents. Give one good loop the right skills — and let it reason.”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Plan / Act / Observe loop, N skills-as-folders; engine swapped to Copilot SDK BYOM.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11887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2344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Reason (Plan)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8463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8920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Act — skill / tool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CE1F8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capabilities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5039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5496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Observe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846320" y="2487168"/>
            <a:ext cx="24688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892040" y="2487168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SKILL.md × 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657600" y="3566160"/>
            <a:ext cx="11887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7315200" y="3566160"/>
            <a:ext cx="11887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080760" y="2990088"/>
            <a:ext cx="914" cy="16459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 flipH="1">
            <a:off x="2423160" y="4160520"/>
            <a:ext cx="7315200" cy="914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9738360" y="3977640"/>
            <a:ext cx="0" cy="182880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2423160" y="3977640"/>
            <a:ext cx="0" cy="182880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5120640" y="418795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loop back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3383280" y="4485554"/>
            <a:ext cx="5394960" cy="502920"/>
          </a:xfrm>
          <a:prstGeom prst="roundRect">
            <a:avLst>
              <a:gd name="adj" fmla="val 1454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3429000" y="4485554"/>
            <a:ext cx="530352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Engine: Copilot SDK BYOM — your Azure model + billing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loop to maintain vs a brittle handoff graph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Skills portable across tools / models; add one in minutes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BYOM — proven Copilot loop, your model + your billing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Multi-agent orchestration (Agent Framework)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“Orchestrate specialists when the problem is genuinely parallel — not because a framework let you.”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Concurrent specialists, published as one Foundry-managed Responses endpoint.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56032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4688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Foundry-hosted endpoint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663440" y="2560320"/>
            <a:ext cx="3108960" cy="777240"/>
          </a:xfrm>
          <a:prstGeom prst="roundRect">
            <a:avLst>
              <a:gd name="adj" fmla="val 9412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709160" y="2560320"/>
            <a:ext cx="30175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Portfolio Analyst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663440" y="4069080"/>
            <a:ext cx="3108960" cy="777240"/>
          </a:xfrm>
          <a:prstGeom prst="roundRect">
            <a:avLst>
              <a:gd name="adj" fmla="val 9412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709160" y="4069080"/>
            <a:ext cx="30175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 Officer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9006840" y="324612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9052560" y="324612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Fan-in result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 flipV="1">
            <a:off x="3291840" y="2971800"/>
            <a:ext cx="137160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3291840" y="3840480"/>
            <a:ext cx="137160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772400" y="2971800"/>
            <a:ext cx="123444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 flipV="1">
            <a:off x="7772400" y="3840480"/>
            <a:ext cx="123444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383280" y="299923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concurrent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orchestration (concurrent / sequential / handoff / Magentic)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endpoint · compute · versions · Entra Agent ID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Honest guidance: default to Pattern 4; escalate when earned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09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Cross-cloud interop (MCP / A2A)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“Bedrock runs an agent. Foundry runs the agent factory. MCP and A2A let each cloud do what it's best at.”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 calls an AWS tool over MCP (mock Lambda); A2A hands off to a Bedrock agent.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606040"/>
            <a:ext cx="4709160" cy="2240280"/>
          </a:xfrm>
          <a:prstGeom prst="roundRect">
            <a:avLst>
              <a:gd name="adj" fmla="val 3265"/>
            </a:avLst>
          </a:prstGeom>
          <a:solidFill>
            <a:srgbClr val="F2ECFA"/>
          </a:solidFill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22960" y="27249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Azure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417320" y="3291840"/>
            <a:ext cx="315468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463040" y="3291840"/>
            <a:ext cx="306324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812280" y="2606040"/>
            <a:ext cx="4800600" cy="2240280"/>
          </a:xfrm>
          <a:prstGeom prst="roundRect">
            <a:avLst>
              <a:gd name="adj" fmla="val 3265"/>
            </a:avLst>
          </a:prstGeom>
          <a:solidFill>
            <a:srgbClr val="FBF3EB"/>
          </a:solidFill>
          <a:ln w="12700">
            <a:solidFill>
              <a:srgbClr val="D89B6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995160" y="2724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B5732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AWS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635240" y="3063240"/>
            <a:ext cx="3566160" cy="685800"/>
          </a:xfrm>
          <a:prstGeom prst="roundRect">
            <a:avLst>
              <a:gd name="adj" fmla="val 10667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680960" y="3063240"/>
            <a:ext cx="347472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AWS tool — Lambda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635240" y="4041648"/>
            <a:ext cx="3566160" cy="685800"/>
          </a:xfrm>
          <a:prstGeom prst="roundRect">
            <a:avLst>
              <a:gd name="adj" fmla="val 10667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680960" y="4041648"/>
            <a:ext cx="347472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Amazon Bedrock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440680" y="3429000"/>
            <a:ext cx="1417320" cy="640080"/>
          </a:xfrm>
          <a:prstGeom prst="roundRect">
            <a:avLst>
              <a:gd name="adj" fmla="val 1142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486400" y="3429000"/>
            <a:ext cx="132588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 / A2A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572000" y="3749040"/>
            <a:ext cx="86868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 flipV="1">
            <a:off x="6858000" y="3401568"/>
            <a:ext cx="777240" cy="2103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858000" y="3931920"/>
            <a:ext cx="77724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720840" y="41148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A2A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Wrap, don't rewrite — call AWS tools from Foundry via MCP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A2A hand-off exposes Foundry agents to Bedrock and back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 overlay (Entra + Purview) spans both clouds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9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Lifecycle, assurance &amp; operations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Evaluate, observe and optimize every release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07  Evaluation &amp; release gate   ·   06  Observability   ·   11  Cost &amp; latency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4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192211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07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Evaluation &amp; release gate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“If you can't score it, you can't ship it safely — and you can't optimize it.”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Generate candidate answers, score in Foundry, fail closed; demo mode plants one regression.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880360"/>
            <a:ext cx="25146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2880360"/>
            <a:ext cx="24231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Golden set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 + policy context</a:t>
            </a:r>
          </a:p>
        </p:txBody>
      </p:sp>
      <p:sp>
        <p:nvSpPr>
          <p:cNvPr id="16" name="Shape 14"/>
          <p:cNvSpPr/>
          <p:nvPr/>
        </p:nvSpPr>
        <p:spPr>
          <a:xfrm>
            <a:off x="3520440" y="2971800"/>
            <a:ext cx="1783080" cy="640080"/>
          </a:xfrm>
          <a:prstGeom prst="roundRect">
            <a:avLst>
              <a:gd name="adj" fmla="val 11429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566160" y="2971800"/>
            <a:ext cx="169164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+ model</a:t>
            </a:r>
          </a:p>
        </p:txBody>
      </p:sp>
      <p:sp>
        <p:nvSpPr>
          <p:cNvPr id="18" name="Shape 16"/>
          <p:cNvSpPr/>
          <p:nvPr/>
        </p:nvSpPr>
        <p:spPr>
          <a:xfrm>
            <a:off x="5669280" y="2880360"/>
            <a:ext cx="2788920" cy="822960"/>
          </a:xfrm>
          <a:prstGeom prst="roundRect">
            <a:avLst>
              <a:gd name="adj" fmla="val 888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715000" y="2880360"/>
            <a:ext cx="269748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Evaluators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groundedness · relevance · coherence</a:t>
            </a:r>
          </a:p>
        </p:txBody>
      </p:sp>
      <p:sp>
        <p:nvSpPr>
          <p:cNvPr id="20" name="Shape 18"/>
          <p:cNvSpPr/>
          <p:nvPr/>
        </p:nvSpPr>
        <p:spPr>
          <a:xfrm>
            <a:off x="8869680" y="2971800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915400" y="2971800"/>
            <a:ext cx="256032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CI gate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154680" y="3291840"/>
            <a:ext cx="36576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303520" y="3291840"/>
            <a:ext cx="36576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458200" y="3291840"/>
            <a:ext cx="41148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669280" y="4114800"/>
            <a:ext cx="27889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715000" y="4114800"/>
            <a:ext cx="269748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Evaluations tab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7059168" y="3703320"/>
            <a:ext cx="914" cy="41148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869680" y="411480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FBE0DC"/>
          </a:solidFill>
          <a:ln w="15875">
            <a:solidFill>
              <a:srgbClr val="E5988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915400" y="4114800"/>
            <a:ext cx="25603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C42B1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FAIL → blocks merge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10195560" y="3611880"/>
            <a:ext cx="914" cy="502920"/>
          </a:xfrm>
          <a:prstGeom prst="line">
            <a:avLst/>
          </a:prstGeom>
          <a:noFill/>
          <a:ln w="25400">
            <a:solidFill>
              <a:srgbClr val="C42B1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Agent-grade evaluators (groundedness, tool-call, intent)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Candidate answers are generated before cloud evaluation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Scoped CI gate — relevant regressions can't merge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Observability &amp; tracing (OpenTelemetry)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“A real Foundry agent, then one traced turn — same run in the portal AND App Insights. And it's OTel, so it's yours.”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Metadata-only OTel trace in Foundry + App Insights; content requires explicit opt-in.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rm-assistant-traced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401568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447288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invoke_agent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117336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163056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833104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78824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136392" y="2816352"/>
            <a:ext cx="265176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852160" y="2816352"/>
            <a:ext cx="265176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567928" y="2816352"/>
            <a:ext cx="265176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931920" y="3456432"/>
            <a:ext cx="4297680" cy="713232"/>
          </a:xfrm>
          <a:prstGeom prst="roundRect">
            <a:avLst>
              <a:gd name="adj" fmla="val 10256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977640" y="3456432"/>
            <a:ext cx="420624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OpenTelemetry spans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metadata only · tokens · latency</a:t>
            </a:r>
          </a:p>
        </p:txBody>
      </p:sp>
      <p:sp>
        <p:nvSpPr>
          <p:cNvPr id="27" name="Shape 25"/>
          <p:cNvSpPr/>
          <p:nvPr/>
        </p:nvSpPr>
        <p:spPr>
          <a:xfrm>
            <a:off x="4626864" y="3145536"/>
            <a:ext cx="859536" cy="310896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 flipH="1">
            <a:off x="6309360" y="3145536"/>
            <a:ext cx="411480" cy="310896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85800" y="4370832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731520" y="4370832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Agents + Tracing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453128" y="4370832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498848" y="4370832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Application Insights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8220456" y="4370832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266176" y="4370832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Datadog / Grafana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 flipH="1">
            <a:off x="2331720" y="4169664"/>
            <a:ext cx="2971800" cy="20116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080760" y="4169664"/>
            <a:ext cx="18288" cy="20116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858000" y="4169664"/>
            <a:ext cx="3008376" cy="20116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shows in the Agents list; run traced server-side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Token + cost + latency per span — observability &amp; FinOps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OpenTelemetry — portable to Datadog / Grafana, no lock-in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11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Cost &amp; latency (prompt cache + Model Router)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“The cheapest, fastest token is the one you never send to the model twice.”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Same long prompt twice → the 2nd call is a prompt-cache hit; Model Router downshifts a trivial prompt; token metrics in App Insights.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3246120"/>
            <a:ext cx="1920240" cy="731520"/>
          </a:xfrm>
          <a:prstGeom prst="roundRect">
            <a:avLst>
              <a:gd name="adj" fmla="val 10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3246120"/>
            <a:ext cx="182880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Request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063240" y="3154680"/>
            <a:ext cx="269748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108960" y="3154680"/>
            <a:ext cx="260604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semantic cache · hit / miss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263640" y="324612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309360" y="3246120"/>
            <a:ext cx="21031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 Router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915400" y="315468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961120" y="315468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cache · cached input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2560320" y="3611880"/>
            <a:ext cx="5029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760720" y="3611880"/>
            <a:ext cx="5029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458200" y="3611880"/>
            <a:ext cx="45720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2468880" y="4370832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2514600" y="4370832"/>
            <a:ext cx="393192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cache: up to 100% off input (PTU)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675120" y="4370832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720840" y="4370832"/>
            <a:ext cx="393192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Token metrics + budgets → App Insights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389120" y="4069080"/>
            <a:ext cx="914" cy="30175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H="1">
            <a:off x="8686800" y="4069080"/>
            <a:ext cx="1508760" cy="30175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caching — cached input tokens discounted, up to 100% off on Provisioned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Semantic cache at the gateway — serve equivalent prompts with no model call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 Router + PTU — cost-aware model choice per prompt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66928" y="365760"/>
            <a:ext cx="119055" cy="119055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03905" y="365760"/>
            <a:ext cx="119055" cy="119055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66928" y="502737"/>
            <a:ext cx="119055" cy="119055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03905" y="502737"/>
            <a:ext cx="119055" cy="119055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932688" y="31089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9601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Coexistence — and the close</a:t>
            </a:r>
            <a:endParaRPr kumimoji="0" lang="en-US" sz="4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66928" y="228600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other cloud runs an agent. Foundry runs the agent FACTORY. MCP + A2A join the two.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Keep your existing stack where it works · add Foundry where you have gaps (identity, eval, tracing, grounding, safety) · unify governance with Purview and Agent 365 across your estate.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393192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 +  AI Gateway  +  Agentic Patterns.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Platform. Governance at scale. The fastest path to business value.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5943600"/>
            <a:ext cx="7863840" cy="0"/>
          </a:xfrm>
          <a:prstGeom prst="line">
            <a:avLst/>
          </a:prstGeom>
          <a:noFill/>
          <a:ln w="15875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60533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 library  ·  github.com/SridharArrabelly/foundry-pattern-library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66928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2303</Words>
  <Application>Microsoft Office PowerPoint</Application>
  <PresentationFormat>Widescreen</PresentationFormat>
  <Paragraphs>392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Aptos</vt:lpstr>
      <vt:lpstr>Arial</vt:lpstr>
      <vt:lpstr>Calibri</vt:lpstr>
      <vt:lpstr>Segoe UI</vt:lpstr>
      <vt:lpstr>Segoe UI Semibold</vt:lpstr>
      <vt:lpstr>Segoe UI Semilight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Sridhar Arrabelly</dc:creator>
  <cp:lastModifiedBy>Sridhar Arrabelly</cp:lastModifiedBy>
  <cp:revision>1</cp:revision>
  <dcterms:created xsi:type="dcterms:W3CDTF">2026-08-23T09:51:01Z</dcterms:created>
  <dcterms:modified xsi:type="dcterms:W3CDTF">2026-08-23T09:51:32Z</dcterms:modified>
</cp:coreProperties>
</file>