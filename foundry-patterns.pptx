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01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56032" cy="1554480"/>
          </a:xfrm>
          <a:prstGeom prst="rect">
            <a:avLst/>
          </a:prstGeom>
          <a:solidFill>
            <a:srgbClr val="0F6C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19456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600" b="1" i="0">
                <a:solidFill>
                  <a:srgbClr val="FFFFFF"/>
                </a:solidFill>
                <a:latin typeface="Segoe UI"/>
              </a:rPr>
              <a:t>From AI Gateway to AI Factory</a:t>
            </a:r>
          </a:p>
          <a:p>
            <a:r>
              <a:rPr sz="2200" b="0" i="0">
                <a:solidFill>
                  <a:srgbClr val="C8C6C4"/>
                </a:solidFill>
                <a:latin typeface="Segoe UI"/>
              </a:rPr>
              <a:t>Nine Microsoft Foundry patterns — alongside AWS + your gateway</a:t>
            </a:r>
          </a:p>
          <a:p>
            <a:r>
              <a:rPr sz="1600" b="1" i="0">
                <a:solidFill>
                  <a:srgbClr val="0F6CBD"/>
                </a:solidFill>
                <a:latin typeface="Segoe UI"/>
              </a:rPr>
              <a:t>A Private Banking scenario  ·  Build in GitHub → Run in Foundry → Reach in M365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F6C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FFFFFF"/>
                </a:solidFill>
                <a:latin typeface="Segoe UI"/>
              </a:rPr>
              <a:t>The wedge: keep your gateway, keep AWS — add the factory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1" i="0">
                <a:solidFill>
                  <a:srgbClr val="201F1E"/>
                </a:solidFill>
                <a:latin typeface="Segoe UI"/>
              </a:rPr>
              <a:t>A gateway gives you MODEL ACCESS.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605E5C"/>
                </a:solidFill>
                <a:latin typeface="Segoe UI"/>
              </a:rPr>
              <a:t>Your LiteLLM gateway (or Azure API Management) is the right pattern for that — one OpenAI-compatible endpoint, keys, budgets, routing across providers incl. Bedrock.</a:t>
            </a:r>
          </a:p>
          <a:p>
            <a:pPr>
              <a:spcAft>
                <a:spcPts val="800"/>
              </a:spcAft>
            </a:pPr>
            <a:r>
              <a:rPr sz="1900" b="1" i="0">
                <a:solidFill>
                  <a:srgbClr val="201F1E"/>
                </a:solidFill>
                <a:latin typeface="Segoe UI"/>
              </a:rPr>
              <a:t>Foundry gives you the AGENT FACTORY.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605E5C"/>
                </a:solidFill>
                <a:latin typeface="Segoe UI"/>
              </a:rPr>
              <a:t>The runtime (Plan/Act/Observe), grounding (Microsoft IQ), identity, evaluation, tracing and safety plane AROUND the models — exactly the depth a homegrown factory lacks.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4754880"/>
            <a:ext cx="3291840" cy="1005840"/>
          </a:xfrm>
          <a:prstGeom prst="roundRect">
            <a:avLst/>
          </a:prstGeom>
          <a:solidFill>
            <a:srgbClr val="201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Your gateway</a:t>
            </a:r>
          </a:p>
          <a:p>
            <a:pPr algn="ctr"/>
            <a:r>
              <a:rPr sz="850" b="0" i="1">
                <a:solidFill>
                  <a:srgbClr val="FFFFFF"/>
                </a:solidFill>
                <a:latin typeface="Segoe UI"/>
              </a:rPr>
              <a:t>LiteLLM / APIM — model access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120640" y="4572000"/>
            <a:ext cx="6400800" cy="137160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0F6C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0F6CBD"/>
                </a:solidFill>
                <a:latin typeface="Segoe UI"/>
              </a:rPr>
              <a:t>Foundry — the agent factory</a:t>
            </a:r>
          </a:p>
          <a:p>
            <a:pPr algn="ctr"/>
            <a:r>
              <a:rPr sz="850" b="0" i="1">
                <a:solidFill>
                  <a:srgbClr val="0F6CBD"/>
                </a:solidFill>
                <a:latin typeface="Segoe UI"/>
              </a:rPr>
              <a:t>runtime · Microsoft IQ · identity · eval · tracing · safety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206240" y="5257800"/>
            <a:ext cx="914400" cy="0"/>
          </a:xfrm>
          <a:prstGeom prst="line">
            <a:avLst/>
          </a:prstGeom>
          <a:ln w="28575">
            <a:solidFill>
              <a:srgbClr val="0F6CB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3977640" y="5102352"/>
            <a:ext cx="1371600" cy="310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anchor="ctr">
            <a:spAutoFit/>
          </a:bodyPr>
          <a:lstStyle/>
          <a:p>
            <a:pPr algn="ctr"/>
            <a:r>
              <a:rPr sz="850" b="0" i="1">
                <a:solidFill>
                  <a:srgbClr val="605E5C"/>
                </a:solidFill>
                <a:latin typeface="Segoe UI"/>
              </a:rPr>
              <a:t>add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201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FFFFFF"/>
                </a:solidFill>
                <a:latin typeface="Segoe UI"/>
              </a:rPr>
              <a:t>Run-of-show — four groups, 60 minutes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789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1" i="0">
                <a:solidFill>
                  <a:srgbClr val="0F6CBD"/>
                </a:solidFill>
                <a:latin typeface="Segoe UI"/>
              </a:rPr>
              <a:t>CONTROL PLANE — make the gateway the single front door</a:t>
            </a:r>
          </a:p>
          <a:p>
            <a:pPr>
              <a:spcAft>
                <a:spcPts val="1600"/>
              </a:spcAft>
            </a:pPr>
            <a:r>
              <a:rPr sz="1700" b="0" i="0">
                <a:solidFill>
                  <a:srgbClr val="201F1E"/>
                </a:solidFill>
                <a:latin typeface="Segoe UI"/>
              </a:rPr>
              <a:t>     1  Wedge → AI Hub Gateway / Citadel  (0–5)      ·      8  Governance / Prompt Shields  (41–50)</a:t>
            </a:r>
          </a:p>
          <a:p>
            <a:pPr>
              <a:spcAft>
                <a:spcPts val="400"/>
              </a:spcAft>
            </a:pPr>
            <a:r>
              <a:rPr sz="1600" b="1" i="0">
                <a:solidFill>
                  <a:srgbClr val="0F6CBD"/>
                </a:solidFill>
                <a:latin typeface="Segoe UI"/>
              </a:rPr>
              <a:t>AGENT FACTORY — build the agent</a:t>
            </a:r>
          </a:p>
          <a:p>
            <a:pPr>
              <a:spcAft>
                <a:spcPts val="1600"/>
              </a:spcAft>
            </a:pPr>
            <a:r>
              <a:rPr sz="1700" b="0" i="0">
                <a:solidFill>
                  <a:srgbClr val="201F1E"/>
                </a:solidFill>
                <a:latin typeface="Segoe UI"/>
              </a:rPr>
              <a:t>     2  Agent Service  (5–10)      ·      3  Microsoft IQ  (10–15)      ·      4  Agentic Loop  (15–20)</a:t>
            </a:r>
          </a:p>
          <a:p>
            <a:pPr>
              <a:spcAft>
                <a:spcPts val="400"/>
              </a:spcAft>
            </a:pPr>
            <a:r>
              <a:rPr sz="1600" b="1" i="0">
                <a:solidFill>
                  <a:srgbClr val="0F6CBD"/>
                </a:solidFill>
                <a:latin typeface="Segoe UI"/>
              </a:rPr>
              <a:t>ORCHESTRATION &amp; INTEROP — make agents work together</a:t>
            </a:r>
          </a:p>
          <a:p>
            <a:pPr>
              <a:spcAft>
                <a:spcPts val="1600"/>
              </a:spcAft>
            </a:pPr>
            <a:r>
              <a:rPr sz="1700" b="0" i="0">
                <a:solidFill>
                  <a:srgbClr val="201F1E"/>
                </a:solidFill>
                <a:latin typeface="Segoe UI"/>
              </a:rPr>
              <a:t>     5  Multi-agent (Agent Framework)  (20–25)      ·      9  AWS cross-cloud, MCP / A2A  (50–60)</a:t>
            </a:r>
          </a:p>
          <a:p>
            <a:pPr>
              <a:spcAft>
                <a:spcPts val="400"/>
              </a:spcAft>
            </a:pPr>
            <a:r>
              <a:rPr sz="1600" b="1" i="0">
                <a:solidFill>
                  <a:srgbClr val="0F6CBD"/>
                </a:solidFill>
                <a:latin typeface="Segoe UI"/>
              </a:rPr>
              <a:t>OPERATE &amp; OPTIMISE — run it in production</a:t>
            </a:r>
          </a:p>
          <a:p>
            <a:pPr>
              <a:spcAft>
                <a:spcPts val="1600"/>
              </a:spcAft>
            </a:pPr>
            <a:r>
              <a:rPr sz="1700" b="0" i="0">
                <a:solidFill>
                  <a:srgbClr val="201F1E"/>
                </a:solidFill>
                <a:latin typeface="Segoe UI"/>
              </a:rPr>
              <a:t>     6  Observability &amp; tracing  (25–33)      ·      7  Evaluation → optimization  (33–41)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920240" cy="6858000"/>
          </a:xfrm>
          <a:prstGeom prst="rect">
            <a:avLst/>
          </a:prstGeom>
          <a:solidFill>
            <a:srgbClr val="201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365760"/>
            <a:ext cx="1554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1" i="0">
                <a:solidFill>
                  <a:srgbClr val="0F6CBD"/>
                </a:solidFill>
                <a:latin typeface="Segoe UI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1600200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19F9D"/>
                </a:solidFill>
                <a:latin typeface="Segoe UI"/>
              </a:rPr>
              <a:t>PATTERN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48840" y="256032"/>
            <a:ext cx="97840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201F1E"/>
                </a:solidFill>
                <a:latin typeface="Segoe UI"/>
              </a:rPr>
              <a:t>The Wedge → AI Hub Gateway / Citadel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1170432"/>
            <a:ext cx="9692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1">
                <a:solidFill>
                  <a:srgbClr val="0F6CBD"/>
                </a:solidFill>
                <a:latin typeface="Segoe UI"/>
              </a:rPr>
              <a:t>“The gateway gives you model access. Foundry gives you the agent factory.”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1627632"/>
            <a:ext cx="9692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 i="0">
                <a:solidFill>
                  <a:srgbClr val="0F6CBD"/>
                </a:solidFill>
                <a:latin typeface="Segoe UI"/>
              </a:rPr>
              <a:t>DEMO   </a:t>
            </a:r>
            <a:r>
              <a:rPr sz="1150" b="0" i="0">
                <a:solidFill>
                  <a:srgbClr val="605E5C"/>
                </a:solidFill>
                <a:latin typeface="Segoe UI"/>
              </a:rPr>
              <a:t>One OpenAI-shaped call, keyless via Entra ID — 401 without a token, 200 with.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286000" y="3063240"/>
            <a:ext cx="2011680" cy="914400"/>
          </a:xfrm>
          <a:prstGeom prst="roundRect">
            <a:avLst/>
          </a:prstGeom>
          <a:solidFill>
            <a:srgbClr val="0F6C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Your app / agent</a:t>
            </a:r>
          </a:p>
          <a:p>
            <a:pPr algn="ctr"/>
            <a:r>
              <a:rPr sz="850" b="0" i="1">
                <a:solidFill>
                  <a:srgbClr val="FFFFFF"/>
                </a:solidFill>
                <a:latin typeface="Segoe UI"/>
              </a:rPr>
              <a:t>no API key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212080" y="2971800"/>
            <a:ext cx="2468880" cy="1097280"/>
          </a:xfrm>
          <a:prstGeom prst="roundRect">
            <a:avLst/>
          </a:prstGeom>
          <a:solidFill>
            <a:srgbClr val="201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Azure AI Gateway (APIM)</a:t>
            </a:r>
          </a:p>
          <a:p>
            <a:pPr algn="ctr"/>
            <a:r>
              <a:rPr sz="850" b="0" i="1">
                <a:solidFill>
                  <a:srgbClr val="FFFFFF"/>
                </a:solidFill>
                <a:latin typeface="Segoe UI"/>
              </a:rPr>
              <a:t>validate-azure-ad-token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052560" y="2468880"/>
            <a:ext cx="2651760" cy="82296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0F6C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0F6CBD"/>
                </a:solidFill>
                <a:latin typeface="Segoe UI"/>
              </a:rPr>
              <a:t>Foundry model</a:t>
            </a:r>
          </a:p>
          <a:p>
            <a:pPr algn="ctr"/>
            <a:r>
              <a:rPr sz="850" b="0" i="1">
                <a:solidFill>
                  <a:srgbClr val="0F6CBD"/>
                </a:solidFill>
                <a:latin typeface="Segoe UI"/>
              </a:rPr>
              <a:t>gpt-5.4-mini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052560" y="4114800"/>
            <a:ext cx="2651760" cy="8229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3B0A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605E5C"/>
                </a:solidFill>
                <a:latin typeface="Segoe UI"/>
              </a:rPr>
              <a:t>AWS Bedrock</a:t>
            </a:r>
          </a:p>
          <a:p>
            <a:pPr algn="ctr"/>
            <a:r>
              <a:rPr sz="850" b="0" i="1">
                <a:solidFill>
                  <a:srgbClr val="605E5C"/>
                </a:solidFill>
                <a:latin typeface="Segoe UI"/>
              </a:rPr>
              <a:t>existing provider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297680" y="3520440"/>
            <a:ext cx="914400" cy="0"/>
          </a:xfrm>
          <a:prstGeom prst="line">
            <a:avLst/>
          </a:prstGeom>
          <a:ln w="22225">
            <a:solidFill>
              <a:srgbClr val="0F6CB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069080" y="3364992"/>
            <a:ext cx="1371600" cy="310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anchor="ctr">
            <a:spAutoFit/>
          </a:bodyPr>
          <a:lstStyle/>
          <a:p>
            <a:pPr algn="ctr"/>
            <a:r>
              <a:rPr sz="850" b="0" i="1">
                <a:solidFill>
                  <a:srgbClr val="605E5C"/>
                </a:solidFill>
                <a:latin typeface="Segoe UI"/>
              </a:rPr>
              <a:t>Entra ID token</a:t>
            </a:r>
          </a:p>
        </p:txBody>
      </p:sp>
      <p:cxnSp>
        <p:nvCxnSpPr>
          <p:cNvPr id="14" name="Connector 13"/>
          <p:cNvCxnSpPr/>
          <p:nvPr/>
        </p:nvCxnSpPr>
        <p:spPr>
          <a:xfrm flipV="1">
            <a:off x="7680960" y="2880360"/>
            <a:ext cx="1371600" cy="640080"/>
          </a:xfrm>
          <a:prstGeom prst="line">
            <a:avLst/>
          </a:prstGeom>
          <a:ln w="22225">
            <a:solidFill>
              <a:srgbClr val="605E5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680960" y="3044952"/>
            <a:ext cx="1371600" cy="310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anchor="ctr">
            <a:spAutoFit/>
          </a:bodyPr>
          <a:lstStyle/>
          <a:p>
            <a:pPr algn="ctr"/>
            <a:r>
              <a:rPr sz="850" b="0" i="1">
                <a:solidFill>
                  <a:srgbClr val="605E5C"/>
                </a:solidFill>
                <a:latin typeface="Segoe UI"/>
              </a:rPr>
              <a:t>managed identity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680960" y="3520440"/>
            <a:ext cx="1371600" cy="1005840"/>
          </a:xfrm>
          <a:prstGeom prst="line">
            <a:avLst/>
          </a:prstGeom>
          <a:ln w="22225">
            <a:solidFill>
              <a:srgbClr val="605E5C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2240280" y="5157216"/>
            <a:ext cx="9509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 i="0">
                <a:solidFill>
                  <a:srgbClr val="605E5C"/>
                </a:solidFill>
                <a:latin typeface="Segoe UI"/>
              </a:rPr>
              <a:t>WHERE A HOMEGROWN FACTORY FALLS SHORT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240280" y="5440680"/>
            <a:ext cx="3108960" cy="822960"/>
          </a:xfrm>
          <a:prstGeom prst="roundRect">
            <a:avLst/>
          </a:prstGeom>
          <a:solidFill>
            <a:srgbClr val="F3F2F1"/>
          </a:solidFill>
          <a:ln w="9525">
            <a:solidFill>
              <a:srgbClr val="E1DF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ctr"/>
            <a:r>
              <a:rPr sz="1050" b="1" i="0">
                <a:solidFill>
                  <a:srgbClr val="0F6CBD"/>
                </a:solidFill>
                <a:latin typeface="Segoe UI"/>
              </a:rPr>
              <a:t>▪  </a:t>
            </a:r>
            <a:r>
              <a:rPr sz="1050" b="0" i="0">
                <a:solidFill>
                  <a:srgbClr val="201F1E"/>
                </a:solidFill>
                <a:latin typeface="Segoe UI"/>
              </a:rPr>
              <a:t>Their LiteLLM gateway stays — zero rip-and-replace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0" y="5440680"/>
            <a:ext cx="3108960" cy="822960"/>
          </a:xfrm>
          <a:prstGeom prst="roundRect">
            <a:avLst/>
          </a:prstGeom>
          <a:solidFill>
            <a:srgbClr val="F3F2F1"/>
          </a:solidFill>
          <a:ln w="9525">
            <a:solidFill>
              <a:srgbClr val="E1DF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ctr"/>
            <a:r>
              <a:rPr sz="1050" b="1" i="0">
                <a:solidFill>
                  <a:srgbClr val="0F6CBD"/>
                </a:solidFill>
                <a:latin typeface="Segoe UI"/>
              </a:rPr>
              <a:t>▪  </a:t>
            </a:r>
            <a:r>
              <a:rPr sz="1050" b="0" i="0">
                <a:solidFill>
                  <a:srgbClr val="201F1E"/>
                </a:solidFill>
                <a:latin typeface="Segoe UI"/>
              </a:rPr>
              <a:t>Reframes gateway as commodity; factory as the differentiation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732520" y="5440680"/>
            <a:ext cx="3108960" cy="822960"/>
          </a:xfrm>
          <a:prstGeom prst="roundRect">
            <a:avLst/>
          </a:prstGeom>
          <a:solidFill>
            <a:srgbClr val="F3F2F1"/>
          </a:solidFill>
          <a:ln w="9525">
            <a:solidFill>
              <a:srgbClr val="E1DF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ctr"/>
            <a:r>
              <a:rPr sz="1050" b="1" i="0">
                <a:solidFill>
                  <a:srgbClr val="0F6CBD"/>
                </a:solidFill>
                <a:latin typeface="Segoe UI"/>
              </a:rPr>
              <a:t>▪  </a:t>
            </a:r>
            <a:r>
              <a:rPr sz="1050" b="0" i="0">
                <a:solidFill>
                  <a:srgbClr val="201F1E"/>
                </a:solidFill>
                <a:latin typeface="Segoe UI"/>
              </a:rPr>
              <a:t>Ships as AI Hub Gateway / Citadel (Foundry + APIM)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920240" cy="6858000"/>
          </a:xfrm>
          <a:prstGeom prst="rect">
            <a:avLst/>
          </a:prstGeom>
          <a:solidFill>
            <a:srgbClr val="201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365760"/>
            <a:ext cx="1554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1" i="0">
                <a:solidFill>
                  <a:srgbClr val="0F6CBD"/>
                </a:solidFill>
                <a:latin typeface="Segoe UI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1600200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19F9D"/>
                </a:solidFill>
                <a:latin typeface="Segoe UI"/>
              </a:rPr>
              <a:t>PATTERN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48840" y="256032"/>
            <a:ext cx="97840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201F1E"/>
                </a:solidFill>
                <a:latin typeface="Segoe UI"/>
              </a:rPr>
              <a:t>Agent Service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1170432"/>
            <a:ext cx="9692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1">
                <a:solidFill>
                  <a:srgbClr val="0F6CBD"/>
                </a:solidFill>
                <a:latin typeface="Segoe UI"/>
              </a:rPr>
              <a:t>“You didn't build a runtime, a vector store and an identity system. You called an API — or handed us a container.”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1627632"/>
            <a:ext cx="9692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 i="0">
                <a:solidFill>
                  <a:srgbClr val="0F6CBD"/>
                </a:solidFill>
                <a:latin typeface="Segoe UI"/>
              </a:rPr>
              <a:t>DEMO   </a:t>
            </a:r>
            <a:r>
              <a:rPr sz="1150" b="0" i="0">
                <a:solidFill>
                  <a:srgbClr val="605E5C"/>
                </a:solidFill>
                <a:latin typeface="Segoe UI"/>
              </a:rPr>
              <a:t>Two hosting models — declarative prompt agent + BYO-code hosted agent — both first-class, both with an Entra Agent ID.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2194560"/>
            <a:ext cx="3200400" cy="914400"/>
          </a:xfrm>
          <a:prstGeom prst="roundRect">
            <a:avLst/>
          </a:prstGeom>
          <a:solidFill>
            <a:srgbClr val="201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A · Prompt agent</a:t>
            </a:r>
          </a:p>
          <a:p>
            <a:pPr algn="ctr"/>
            <a:r>
              <a:rPr sz="850" b="0" i="1">
                <a:solidFill>
                  <a:srgbClr val="FFFFFF"/>
                </a:solidFill>
                <a:latin typeface="Segoe UI"/>
              </a:rPr>
              <a:t>rm-assistant-prompt (config)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3429000"/>
            <a:ext cx="3200400" cy="731520"/>
          </a:xfrm>
          <a:prstGeom prst="roundRect">
            <a:avLst/>
          </a:prstGeom>
          <a:solidFill>
            <a:srgbClr val="F3F2F1"/>
          </a:solidFill>
          <a:ln w="12700">
            <a:solidFill>
              <a:srgbClr val="B3B0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201F1E"/>
                </a:solidFill>
                <a:latin typeface="Segoe UI"/>
              </a:rPr>
              <a:t>File Search RAG + function tool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2440" y="2194560"/>
            <a:ext cx="3200400" cy="914400"/>
          </a:xfrm>
          <a:prstGeom prst="roundRect">
            <a:avLst/>
          </a:prstGeom>
          <a:solidFill>
            <a:srgbClr val="201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B · Hosted agent</a:t>
            </a:r>
          </a:p>
          <a:p>
            <a:pPr algn="ctr"/>
            <a:r>
              <a:rPr sz="850" b="0" i="1">
                <a:solidFill>
                  <a:srgbClr val="FFFFFF"/>
                </a:solidFill>
                <a:latin typeface="Segoe UI"/>
              </a:rPr>
              <a:t>rm-assistant-hosted (your code)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2440" y="3429000"/>
            <a:ext cx="3200400" cy="731520"/>
          </a:xfrm>
          <a:prstGeom prst="roundRect">
            <a:avLst/>
          </a:prstGeom>
          <a:solidFill>
            <a:srgbClr val="F3F2F1"/>
          </a:solidFill>
          <a:ln w="12700">
            <a:solidFill>
              <a:srgbClr val="B3B0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201F1E"/>
                </a:solidFill>
                <a:latin typeface="Segoe UI"/>
              </a:rPr>
              <a:t>Your container · Foundry-managed compute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17720" y="2286000"/>
            <a:ext cx="2971800" cy="868680"/>
          </a:xfrm>
          <a:prstGeom prst="roundRect">
            <a:avLst/>
          </a:prstGeom>
          <a:solidFill>
            <a:srgbClr val="0F6C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Foundry Agent Service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063240" y="4251960"/>
            <a:ext cx="2743200" cy="749808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0F6C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0F6CBD"/>
                </a:solidFill>
                <a:latin typeface="Segoe UI"/>
              </a:rPr>
              <a:t>Entra Agent ID — governed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55080" y="4251960"/>
            <a:ext cx="3063240" cy="749808"/>
          </a:xfrm>
          <a:prstGeom prst="roundRect">
            <a:avLst/>
          </a:prstGeom>
          <a:solidFill>
            <a:srgbClr val="F3F2F1"/>
          </a:solidFill>
          <a:ln w="12700">
            <a:solidFill>
              <a:srgbClr val="B3B0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201F1E"/>
                </a:solidFill>
                <a:latin typeface="Segoe UI"/>
              </a:rPr>
              <a:t>Portal: chat · logs · versions</a:t>
            </a:r>
          </a:p>
        </p:txBody>
      </p:sp>
      <p:cxnSp>
        <p:nvCxnSpPr>
          <p:cNvPr id="15" name="Connector 14"/>
          <p:cNvCxnSpPr/>
          <p:nvPr/>
        </p:nvCxnSpPr>
        <p:spPr>
          <a:xfrm flipV="1">
            <a:off x="2514600" y="3108960"/>
            <a:ext cx="0" cy="320040"/>
          </a:xfrm>
          <a:prstGeom prst="line">
            <a:avLst/>
          </a:prstGeom>
          <a:ln w="22225">
            <a:solidFill>
              <a:srgbClr val="605E5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9692640" y="3108960"/>
            <a:ext cx="0" cy="320040"/>
          </a:xfrm>
          <a:prstGeom prst="line">
            <a:avLst/>
          </a:prstGeom>
          <a:ln w="22225">
            <a:solidFill>
              <a:srgbClr val="605E5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4114800" y="2651760"/>
            <a:ext cx="502920" cy="68580"/>
          </a:xfrm>
          <a:prstGeom prst="line">
            <a:avLst/>
          </a:prstGeom>
          <a:ln w="22225">
            <a:solidFill>
              <a:srgbClr val="605E5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H="1">
            <a:off x="7589520" y="2651760"/>
            <a:ext cx="502920" cy="68580"/>
          </a:xfrm>
          <a:prstGeom prst="line">
            <a:avLst/>
          </a:prstGeom>
          <a:ln w="22225">
            <a:solidFill>
              <a:srgbClr val="605E5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4434840" y="3154680"/>
            <a:ext cx="1668780" cy="1097280"/>
          </a:xfrm>
          <a:prstGeom prst="line">
            <a:avLst/>
          </a:prstGeom>
          <a:ln w="22225">
            <a:solidFill>
              <a:srgbClr val="605E5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103620" y="3154680"/>
            <a:ext cx="1783080" cy="1097280"/>
          </a:xfrm>
          <a:prstGeom prst="line">
            <a:avLst/>
          </a:prstGeom>
          <a:ln w="22225">
            <a:solidFill>
              <a:srgbClr val="605E5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2240280" y="5157216"/>
            <a:ext cx="9509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 i="0">
                <a:solidFill>
                  <a:srgbClr val="605E5C"/>
                </a:solidFill>
                <a:latin typeface="Segoe UI"/>
              </a:rPr>
              <a:t>WHERE A HOMEGROWN FACTORY FALLS SHORT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240280" y="5440680"/>
            <a:ext cx="3108960" cy="822960"/>
          </a:xfrm>
          <a:prstGeom prst="roundRect">
            <a:avLst/>
          </a:prstGeom>
          <a:solidFill>
            <a:srgbClr val="F3F2F1"/>
          </a:solidFill>
          <a:ln w="9525">
            <a:solidFill>
              <a:srgbClr val="E1DF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ctr"/>
            <a:r>
              <a:rPr sz="1050" b="1" i="0">
                <a:solidFill>
                  <a:srgbClr val="0F6CBD"/>
                </a:solidFill>
                <a:latin typeface="Segoe UI"/>
              </a:rPr>
              <a:t>▪  </a:t>
            </a:r>
            <a:r>
              <a:rPr sz="1050" b="0" i="0">
                <a:solidFill>
                  <a:srgbClr val="201F1E"/>
                </a:solidFill>
                <a:latin typeface="Segoe UI"/>
              </a:rPr>
              <a:t>Prompt-based: model + instructions + tools; File Search RAG (managed vector store)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0" y="5440680"/>
            <a:ext cx="3108960" cy="822960"/>
          </a:xfrm>
          <a:prstGeom prst="roundRect">
            <a:avLst/>
          </a:prstGeom>
          <a:solidFill>
            <a:srgbClr val="F3F2F1"/>
          </a:solidFill>
          <a:ln w="9525">
            <a:solidFill>
              <a:srgbClr val="E1DF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ctr"/>
            <a:r>
              <a:rPr sz="1050" b="1" i="0">
                <a:solidFill>
                  <a:srgbClr val="0F6CBD"/>
                </a:solidFill>
                <a:latin typeface="Segoe UI"/>
              </a:rPr>
              <a:t>▪  </a:t>
            </a:r>
            <a:r>
              <a:rPr sz="1050" b="0" i="0">
                <a:solidFill>
                  <a:srgbClr val="201F1E"/>
                </a:solidFill>
                <a:latin typeface="Segoe UI"/>
              </a:rPr>
              <a:t>Hosted: your container on Foundry-managed compute — any framework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732520" y="5440680"/>
            <a:ext cx="3108960" cy="822960"/>
          </a:xfrm>
          <a:prstGeom prst="roundRect">
            <a:avLst/>
          </a:prstGeom>
          <a:solidFill>
            <a:srgbClr val="F3F2F1"/>
          </a:solidFill>
          <a:ln w="9525">
            <a:solidFill>
              <a:srgbClr val="E1DF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ctr"/>
            <a:r>
              <a:rPr sz="1050" b="1" i="0">
                <a:solidFill>
                  <a:srgbClr val="0F6CBD"/>
                </a:solidFill>
                <a:latin typeface="Segoe UI"/>
              </a:rPr>
              <a:t>▪  </a:t>
            </a:r>
            <a:r>
              <a:rPr sz="1050" b="0" i="0">
                <a:solidFill>
                  <a:srgbClr val="201F1E"/>
                </a:solidFill>
                <a:latin typeface="Segoe UI"/>
              </a:rPr>
              <a:t>Entra Agent ID — governable identity per agent, not a shared IAM role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920240" cy="6858000"/>
          </a:xfrm>
          <a:prstGeom prst="rect">
            <a:avLst/>
          </a:prstGeom>
          <a:solidFill>
            <a:srgbClr val="201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365760"/>
            <a:ext cx="1554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1" i="0">
                <a:solidFill>
                  <a:srgbClr val="0F6CBD"/>
                </a:solidFill>
                <a:latin typeface="Segoe UI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1600200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19F9D"/>
                </a:solidFill>
                <a:latin typeface="Segoe UI"/>
              </a:rPr>
              <a:t>PATTERN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48840" y="256032"/>
            <a:ext cx="97840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201F1E"/>
                </a:solidFill>
                <a:latin typeface="Segoe UI"/>
              </a:rPr>
              <a:t>Microsoft IQ — The Intelligence Layer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1170432"/>
            <a:ext cx="9692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1">
                <a:solidFill>
                  <a:srgbClr val="0F6CBD"/>
                </a:solidFill>
                <a:latin typeface="Segoe UI"/>
              </a:rPr>
              <a:t>“Web IQ grounds you in the world. Foundry IQ grounds you in your enterprise.”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1627632"/>
            <a:ext cx="9692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 i="0">
                <a:solidFill>
                  <a:srgbClr val="0F6CBD"/>
                </a:solidFill>
                <a:latin typeface="Segoe UI"/>
              </a:rPr>
              <a:t>DEMO   </a:t>
            </a:r>
            <a:r>
              <a:rPr sz="1150" b="0" i="0">
                <a:solidFill>
                  <a:srgbClr val="605E5C"/>
                </a:solidFill>
                <a:latin typeface="Segoe UI"/>
              </a:rPr>
              <a:t>Web IQ published as OUR OWN MCP API on APIM — no key, 401; valid key, 200; past the limit, 429.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00400" y="4370832"/>
            <a:ext cx="2651760" cy="621792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3B0A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605E5C"/>
                </a:solidFill>
                <a:latin typeface="Segoe UI"/>
              </a:rPr>
              <a:t>APIM secret: webiq-api-key</a:t>
            </a:r>
          </a:p>
          <a:p>
            <a:pPr algn="ctr"/>
            <a:r>
              <a:rPr sz="850" b="0" i="1">
                <a:solidFill>
                  <a:srgbClr val="605E5C"/>
                </a:solidFill>
                <a:latin typeface="Segoe UI"/>
              </a:rPr>
              <a:t>injected inbound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194560" y="3017520"/>
            <a:ext cx="1920240" cy="868680"/>
          </a:xfrm>
          <a:prstGeom prst="roundRect">
            <a:avLst/>
          </a:prstGeom>
          <a:solidFill>
            <a:srgbClr val="201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MCP client</a:t>
            </a:r>
          </a:p>
          <a:p>
            <a:pPr algn="ctr"/>
            <a:r>
              <a:rPr sz="850" b="0" i="1">
                <a:solidFill>
                  <a:srgbClr val="FFFFFF"/>
                </a:solidFill>
                <a:latin typeface="Segoe UI"/>
              </a:rPr>
              <a:t>Foundry · Copilot · Bedrock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0" y="3017520"/>
            <a:ext cx="1828800" cy="868680"/>
          </a:xfrm>
          <a:prstGeom prst="roundRect">
            <a:avLst/>
          </a:prstGeom>
          <a:solidFill>
            <a:srgbClr val="0F6C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APIM MCP API</a:t>
            </a:r>
          </a:p>
          <a:p>
            <a:pPr algn="ctr"/>
            <a:r>
              <a:rPr sz="850" b="0" i="1">
                <a:solidFill>
                  <a:srgbClr val="FFFFFF"/>
                </a:solidFill>
                <a:latin typeface="Segoe UI"/>
              </a:rPr>
              <a:t>authN · quota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0" y="2103120"/>
            <a:ext cx="3566160" cy="566928"/>
          </a:xfrm>
          <a:prstGeom prst="roundRect">
            <a:avLst/>
          </a:prstGeom>
          <a:solidFill>
            <a:srgbClr val="F3F2F1"/>
          </a:solidFill>
          <a:ln w="12700">
            <a:solidFill>
              <a:srgbClr val="B3B0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201F1E"/>
                </a:solidFill>
                <a:latin typeface="Segoe UI"/>
              </a:rPr>
              <a:t>Web IQ — cited live web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0" y="2834640"/>
            <a:ext cx="3566160" cy="566928"/>
          </a:xfrm>
          <a:prstGeom prst="roundRect">
            <a:avLst/>
          </a:prstGeom>
          <a:solidFill>
            <a:srgbClr val="F3F2F1"/>
          </a:solidFill>
          <a:ln w="12700">
            <a:solidFill>
              <a:srgbClr val="B3B0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201F1E"/>
                </a:solidFill>
                <a:latin typeface="Segoe UI"/>
              </a:rPr>
              <a:t>Foundry IQ — enterprise knowledge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0" y="3566160"/>
            <a:ext cx="3566160" cy="566928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3B0A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605E5C"/>
                </a:solidFill>
                <a:latin typeface="Segoe UI"/>
              </a:rPr>
              <a:t>Fabric IQ — business data · KPIs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0" y="4297680"/>
            <a:ext cx="3566160" cy="566928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3B0A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605E5C"/>
                </a:solidFill>
                <a:latin typeface="Segoe UI"/>
              </a:rPr>
              <a:t>Work IQ — M365 org context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114800" y="3451860"/>
            <a:ext cx="1554480" cy="0"/>
          </a:xfrm>
          <a:prstGeom prst="line">
            <a:avLst/>
          </a:prstGeom>
          <a:ln w="22225">
            <a:solidFill>
              <a:srgbClr val="605E5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4206240" y="3296412"/>
            <a:ext cx="1371600" cy="310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anchor="ctr">
            <a:spAutoFit/>
          </a:bodyPr>
          <a:lstStyle/>
          <a:p>
            <a:pPr algn="ctr"/>
            <a:r>
              <a:rPr sz="850" b="0" i="1">
                <a:solidFill>
                  <a:srgbClr val="605E5C"/>
                </a:solidFill>
                <a:latin typeface="Segoe UI"/>
              </a:rPr>
              <a:t>sub key only</a:t>
            </a:r>
          </a:p>
        </p:txBody>
      </p:sp>
      <p:cxnSp>
        <p:nvCxnSpPr>
          <p:cNvPr id="17" name="Connector 16"/>
          <p:cNvCxnSpPr/>
          <p:nvPr/>
        </p:nvCxnSpPr>
        <p:spPr>
          <a:xfrm flipV="1">
            <a:off x="7498080" y="2386584"/>
            <a:ext cx="274320" cy="1065276"/>
          </a:xfrm>
          <a:prstGeom prst="line">
            <a:avLst/>
          </a:prstGeom>
          <a:ln w="22225">
            <a:solidFill>
              <a:srgbClr val="605E5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V="1">
            <a:off x="7498080" y="3118104"/>
            <a:ext cx="274320" cy="333756"/>
          </a:xfrm>
          <a:prstGeom prst="line">
            <a:avLst/>
          </a:prstGeom>
          <a:ln w="22225">
            <a:solidFill>
              <a:srgbClr val="605E5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7498080" y="3451860"/>
            <a:ext cx="274320" cy="397764"/>
          </a:xfrm>
          <a:prstGeom prst="line">
            <a:avLst/>
          </a:prstGeom>
          <a:ln w="22225">
            <a:solidFill>
              <a:srgbClr val="605E5C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7498080" y="3451860"/>
            <a:ext cx="274320" cy="1129284"/>
          </a:xfrm>
          <a:prstGeom prst="line">
            <a:avLst/>
          </a:prstGeom>
          <a:ln w="22225">
            <a:solidFill>
              <a:srgbClr val="605E5C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4526280" y="3886200"/>
            <a:ext cx="2057400" cy="484632"/>
          </a:xfrm>
          <a:prstGeom prst="line">
            <a:avLst/>
          </a:prstGeom>
          <a:ln w="22225">
            <a:solidFill>
              <a:srgbClr val="605E5C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2240280" y="5157216"/>
            <a:ext cx="9509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 i="0">
                <a:solidFill>
                  <a:srgbClr val="605E5C"/>
                </a:solidFill>
                <a:latin typeface="Segoe UI"/>
              </a:rPr>
              <a:t>WHERE A HOMEGROWN FACTORY FALLS SHORT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240280" y="5440680"/>
            <a:ext cx="3108960" cy="822960"/>
          </a:xfrm>
          <a:prstGeom prst="roundRect">
            <a:avLst/>
          </a:prstGeom>
          <a:solidFill>
            <a:srgbClr val="F3F2F1"/>
          </a:solidFill>
          <a:ln w="9525">
            <a:solidFill>
              <a:srgbClr val="E1DF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ctr"/>
            <a:r>
              <a:rPr sz="1050" b="1" i="0">
                <a:solidFill>
                  <a:srgbClr val="0F6CBD"/>
                </a:solidFill>
                <a:latin typeface="Segoe UI"/>
              </a:rPr>
              <a:t>▪  </a:t>
            </a:r>
            <a:r>
              <a:rPr sz="1050" b="0" i="0">
                <a:solidFill>
                  <a:srgbClr val="201F1E"/>
                </a:solidFill>
                <a:latin typeface="Segoe UI"/>
              </a:rPr>
              <a:t>Tool calls governed like model calls — same gateway, same control point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0" y="5440680"/>
            <a:ext cx="3108960" cy="822960"/>
          </a:xfrm>
          <a:prstGeom prst="roundRect">
            <a:avLst/>
          </a:prstGeom>
          <a:solidFill>
            <a:srgbClr val="F3F2F1"/>
          </a:solidFill>
          <a:ln w="9525">
            <a:solidFill>
              <a:srgbClr val="E1DF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ctr"/>
            <a:r>
              <a:rPr sz="1050" b="1" i="0">
                <a:solidFill>
                  <a:srgbClr val="0F6CBD"/>
                </a:solidFill>
                <a:latin typeface="Segoe UI"/>
              </a:rPr>
              <a:t>▪  </a:t>
            </a:r>
            <a:r>
              <a:rPr sz="1050" b="0" i="0">
                <a:solidFill>
                  <a:srgbClr val="201F1E"/>
                </a:solidFill>
                <a:latin typeface="Segoe UI"/>
              </a:rPr>
              <a:t>Key custody sits in the gateway — no Web IQ credential client-side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732520" y="5440680"/>
            <a:ext cx="3108960" cy="822960"/>
          </a:xfrm>
          <a:prstGeom prst="roundRect">
            <a:avLst/>
          </a:prstGeom>
          <a:solidFill>
            <a:srgbClr val="F3F2F1"/>
          </a:solidFill>
          <a:ln w="9525">
            <a:solidFill>
              <a:srgbClr val="E1DF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ctr"/>
            <a:r>
              <a:rPr sz="1050" b="1" i="0">
                <a:solidFill>
                  <a:srgbClr val="0F6CBD"/>
                </a:solidFill>
                <a:latin typeface="Segoe UI"/>
              </a:rPr>
              <a:t>▪  </a:t>
            </a:r>
            <a:r>
              <a:rPr sz="1050" b="0" i="0">
                <a:solidFill>
                  <a:srgbClr val="201F1E"/>
                </a:solidFill>
                <a:latin typeface="Segoe UI"/>
              </a:rPr>
              <a:t>Four layers: web, enterprise, business data, org context — a moat AWS can't match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920240" cy="6858000"/>
          </a:xfrm>
          <a:prstGeom prst="rect">
            <a:avLst/>
          </a:prstGeom>
          <a:solidFill>
            <a:srgbClr val="201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365760"/>
            <a:ext cx="1554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1" i="0">
                <a:solidFill>
                  <a:srgbClr val="0F6CBD"/>
                </a:solidFill>
                <a:latin typeface="Segoe UI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1600200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19F9D"/>
                </a:solidFill>
                <a:latin typeface="Segoe UI"/>
              </a:rPr>
              <a:t>PATTERN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48840" y="256032"/>
            <a:ext cx="97840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201F1E"/>
                </a:solidFill>
                <a:latin typeface="Segoe UI"/>
              </a:rPr>
              <a:t>Agentic Loop — Build Skills, Not Agents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1170432"/>
            <a:ext cx="9692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1">
                <a:solidFill>
                  <a:srgbClr val="0F6CBD"/>
                </a:solidFill>
                <a:latin typeface="Segoe UI"/>
              </a:rPr>
              <a:t>“Don't orchestrate fifty agents. Give one good loop the right skills — and let it reason.”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1627632"/>
            <a:ext cx="9692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 i="0">
                <a:solidFill>
                  <a:srgbClr val="0F6CBD"/>
                </a:solidFill>
                <a:latin typeface="Segoe UI"/>
              </a:rPr>
              <a:t>DEMO   </a:t>
            </a:r>
            <a:r>
              <a:rPr sz="1150" b="0" i="0">
                <a:solidFill>
                  <a:srgbClr val="605E5C"/>
                </a:solidFill>
                <a:latin typeface="Segoe UI"/>
              </a:rPr>
              <a:t>One Plan/Act/Observe loop, N skills-as-folders; engine swapped to Copilot SDK BYOM.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937760" y="2103120"/>
            <a:ext cx="2377440" cy="777240"/>
          </a:xfrm>
          <a:prstGeom prst="roundRect">
            <a:avLst/>
          </a:prstGeom>
          <a:solidFill>
            <a:srgbClr val="0F6C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Reason (Plan)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55279" y="3108960"/>
            <a:ext cx="2377440" cy="777240"/>
          </a:xfrm>
          <a:prstGeom prst="roundRect">
            <a:avLst/>
          </a:prstGeom>
          <a:solidFill>
            <a:srgbClr val="0F6C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Act — skill / tool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937760" y="4160520"/>
            <a:ext cx="2377440" cy="777240"/>
          </a:xfrm>
          <a:prstGeom prst="roundRect">
            <a:avLst/>
          </a:prstGeom>
          <a:solidFill>
            <a:srgbClr val="0F6C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Observe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286000" y="2697480"/>
            <a:ext cx="2194560" cy="731520"/>
          </a:xfrm>
          <a:prstGeom prst="roundRect">
            <a:avLst/>
          </a:prstGeom>
          <a:solidFill>
            <a:srgbClr val="F3F2F1"/>
          </a:solidFill>
          <a:ln w="12700">
            <a:solidFill>
              <a:srgbClr val="B3B0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201F1E"/>
                </a:solidFill>
                <a:latin typeface="Segoe UI"/>
              </a:rPr>
              <a:t>SKILL.md × 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286000" y="4069080"/>
            <a:ext cx="2194560" cy="91440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0F6C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0F6CBD"/>
                </a:solidFill>
                <a:latin typeface="Segoe UI"/>
              </a:rPr>
              <a:t>Engine: Copilot SDK BYOM</a:t>
            </a:r>
          </a:p>
          <a:p>
            <a:pPr algn="ctr"/>
            <a:r>
              <a:rPr sz="850" b="0" i="1">
                <a:solidFill>
                  <a:srgbClr val="0F6CBD"/>
                </a:solidFill>
                <a:latin typeface="Segoe UI"/>
              </a:rPr>
              <a:t>your Azure model + billing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315200" y="2491740"/>
            <a:ext cx="1828799" cy="617220"/>
          </a:xfrm>
          <a:prstGeom prst="line">
            <a:avLst/>
          </a:prstGeom>
          <a:ln w="22225">
            <a:solidFill>
              <a:srgbClr val="605E5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7315200" y="3886200"/>
            <a:ext cx="1828799" cy="662940"/>
          </a:xfrm>
          <a:prstGeom prst="line">
            <a:avLst/>
          </a:prstGeom>
          <a:ln w="22225">
            <a:solidFill>
              <a:srgbClr val="605E5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4937760" y="2880360"/>
            <a:ext cx="1188720" cy="1668780"/>
          </a:xfrm>
          <a:prstGeom prst="line">
            <a:avLst/>
          </a:prstGeom>
          <a:ln w="22225">
            <a:solidFill>
              <a:srgbClr val="605E5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4480560" y="3063240"/>
            <a:ext cx="3474719" cy="434340"/>
          </a:xfrm>
          <a:prstGeom prst="line">
            <a:avLst/>
          </a:prstGeom>
          <a:ln w="22225">
            <a:solidFill>
              <a:srgbClr val="605E5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532119" y="3124962"/>
            <a:ext cx="1371600" cy="310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anchor="ctr">
            <a:spAutoFit/>
          </a:bodyPr>
          <a:lstStyle/>
          <a:p>
            <a:pPr algn="ctr"/>
            <a:r>
              <a:rPr sz="850" b="0" i="1">
                <a:solidFill>
                  <a:srgbClr val="605E5C"/>
                </a:solidFill>
                <a:latin typeface="Segoe UI"/>
              </a:rPr>
              <a:t>capabilities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480560" y="4526280"/>
            <a:ext cx="457200" cy="22860"/>
          </a:xfrm>
          <a:prstGeom prst="line">
            <a:avLst/>
          </a:prstGeom>
          <a:ln w="22225">
            <a:solidFill>
              <a:srgbClr val="0F6CBD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2240280" y="5157216"/>
            <a:ext cx="9509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 i="0">
                <a:solidFill>
                  <a:srgbClr val="605E5C"/>
                </a:solidFill>
                <a:latin typeface="Segoe UI"/>
              </a:rPr>
              <a:t>WHERE A HOMEGROWN FACTORY FALLS SHORT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240280" y="5440680"/>
            <a:ext cx="3108960" cy="822960"/>
          </a:xfrm>
          <a:prstGeom prst="roundRect">
            <a:avLst/>
          </a:prstGeom>
          <a:solidFill>
            <a:srgbClr val="F3F2F1"/>
          </a:solidFill>
          <a:ln w="9525">
            <a:solidFill>
              <a:srgbClr val="E1DF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ctr"/>
            <a:r>
              <a:rPr sz="1050" b="1" i="0">
                <a:solidFill>
                  <a:srgbClr val="0F6CBD"/>
                </a:solidFill>
                <a:latin typeface="Segoe UI"/>
              </a:rPr>
              <a:t>▪  </a:t>
            </a:r>
            <a:r>
              <a:rPr sz="1050" b="0" i="0">
                <a:solidFill>
                  <a:srgbClr val="201F1E"/>
                </a:solidFill>
                <a:latin typeface="Segoe UI"/>
              </a:rPr>
              <a:t>One loop to maintain vs a brittle handoff graph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0" y="5440680"/>
            <a:ext cx="3108960" cy="822960"/>
          </a:xfrm>
          <a:prstGeom prst="roundRect">
            <a:avLst/>
          </a:prstGeom>
          <a:solidFill>
            <a:srgbClr val="F3F2F1"/>
          </a:solidFill>
          <a:ln w="9525">
            <a:solidFill>
              <a:srgbClr val="E1DF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ctr"/>
            <a:r>
              <a:rPr sz="1050" b="1" i="0">
                <a:solidFill>
                  <a:srgbClr val="0F6CBD"/>
                </a:solidFill>
                <a:latin typeface="Segoe UI"/>
              </a:rPr>
              <a:t>▪  </a:t>
            </a:r>
            <a:r>
              <a:rPr sz="1050" b="0" i="0">
                <a:solidFill>
                  <a:srgbClr val="201F1E"/>
                </a:solidFill>
                <a:latin typeface="Segoe UI"/>
              </a:rPr>
              <a:t>Skills portable across tools/models; add one in minutes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732520" y="5440680"/>
            <a:ext cx="3108960" cy="822960"/>
          </a:xfrm>
          <a:prstGeom prst="roundRect">
            <a:avLst/>
          </a:prstGeom>
          <a:solidFill>
            <a:srgbClr val="F3F2F1"/>
          </a:solidFill>
          <a:ln w="9525">
            <a:solidFill>
              <a:srgbClr val="E1DF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ctr"/>
            <a:r>
              <a:rPr sz="1050" b="1" i="0">
                <a:solidFill>
                  <a:srgbClr val="0F6CBD"/>
                </a:solidFill>
                <a:latin typeface="Segoe UI"/>
              </a:rPr>
              <a:t>▪  </a:t>
            </a:r>
            <a:r>
              <a:rPr sz="1050" b="0" i="0">
                <a:solidFill>
                  <a:srgbClr val="201F1E"/>
                </a:solidFill>
                <a:latin typeface="Segoe UI"/>
              </a:rPr>
              <a:t>BYOM — proven Copilot loop, your model + your billing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920240" cy="6858000"/>
          </a:xfrm>
          <a:prstGeom prst="rect">
            <a:avLst/>
          </a:prstGeom>
          <a:solidFill>
            <a:srgbClr val="201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365760"/>
            <a:ext cx="1554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1" i="0">
                <a:solidFill>
                  <a:srgbClr val="0F6CBD"/>
                </a:solidFill>
                <a:latin typeface="Segoe UI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1600200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19F9D"/>
                </a:solidFill>
                <a:latin typeface="Segoe UI"/>
              </a:rPr>
              <a:t>PATTERN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48840" y="256032"/>
            <a:ext cx="97840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201F1E"/>
                </a:solidFill>
                <a:latin typeface="Segoe UI"/>
              </a:rPr>
              <a:t>Multi-agent Orchestration (Agent Framework)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1170432"/>
            <a:ext cx="9692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1">
                <a:solidFill>
                  <a:srgbClr val="0F6CBD"/>
                </a:solidFill>
                <a:latin typeface="Segoe UI"/>
              </a:rPr>
              <a:t>“Orchestrate specialists when the problem is genuinely parallel — not because a framework let you.”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1627632"/>
            <a:ext cx="9692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 i="0">
                <a:solidFill>
                  <a:srgbClr val="0F6CBD"/>
                </a:solidFill>
                <a:latin typeface="Segoe UI"/>
              </a:rPr>
              <a:t>DEMO   </a:t>
            </a:r>
            <a:r>
              <a:rPr sz="1150" b="0" i="0">
                <a:solidFill>
                  <a:srgbClr val="605E5C"/>
                </a:solidFill>
                <a:latin typeface="Segoe UI"/>
              </a:rPr>
              <a:t>Request fans out to two specialists concurrently; Compliance returns BLOCK, then aggregate.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286000" y="3063240"/>
            <a:ext cx="2103120" cy="868680"/>
          </a:xfrm>
          <a:prstGeom prst="roundRect">
            <a:avLst/>
          </a:prstGeom>
          <a:solidFill>
            <a:srgbClr val="201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Orchestrator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577840" y="2194560"/>
            <a:ext cx="2743200" cy="777240"/>
          </a:xfrm>
          <a:prstGeom prst="roundRect">
            <a:avLst/>
          </a:prstGeom>
          <a:solidFill>
            <a:srgbClr val="0F6C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Portfolio Analyst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577840" y="4114800"/>
            <a:ext cx="2743200" cy="777240"/>
          </a:xfrm>
          <a:prstGeom prst="roundRect">
            <a:avLst/>
          </a:prstGeom>
          <a:solidFill>
            <a:srgbClr val="0F6C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Compliance Officer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235440" y="3063240"/>
            <a:ext cx="2286000" cy="86868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0F6C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0F6CBD"/>
                </a:solidFill>
                <a:latin typeface="Segoe UI"/>
              </a:rPr>
              <a:t>Aggregate</a:t>
            </a:r>
          </a:p>
        </p:txBody>
      </p:sp>
      <p:cxnSp>
        <p:nvCxnSpPr>
          <p:cNvPr id="12" name="Connector 11"/>
          <p:cNvCxnSpPr/>
          <p:nvPr/>
        </p:nvCxnSpPr>
        <p:spPr>
          <a:xfrm flipV="1">
            <a:off x="4389120" y="2583180"/>
            <a:ext cx="1188720" cy="914400"/>
          </a:xfrm>
          <a:prstGeom prst="line">
            <a:avLst/>
          </a:prstGeom>
          <a:ln w="22225">
            <a:solidFill>
              <a:srgbClr val="0F6CB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297680" y="2884932"/>
            <a:ext cx="1371600" cy="310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anchor="ctr">
            <a:spAutoFit/>
          </a:bodyPr>
          <a:lstStyle/>
          <a:p>
            <a:pPr algn="ctr"/>
            <a:r>
              <a:rPr sz="850" b="0" i="1">
                <a:solidFill>
                  <a:srgbClr val="605E5C"/>
                </a:solidFill>
                <a:latin typeface="Segoe UI"/>
              </a:rPr>
              <a:t>concurrent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389120" y="3497580"/>
            <a:ext cx="1188720" cy="1005840"/>
          </a:xfrm>
          <a:prstGeom prst="line">
            <a:avLst/>
          </a:prstGeom>
          <a:ln w="22225">
            <a:solidFill>
              <a:srgbClr val="605E5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8321040" y="2583180"/>
            <a:ext cx="914400" cy="914400"/>
          </a:xfrm>
          <a:prstGeom prst="line">
            <a:avLst/>
          </a:prstGeom>
          <a:ln w="22225">
            <a:solidFill>
              <a:srgbClr val="605E5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8321040" y="3497580"/>
            <a:ext cx="914400" cy="1005840"/>
          </a:xfrm>
          <a:prstGeom prst="line">
            <a:avLst/>
          </a:prstGeom>
          <a:ln w="22225">
            <a:solidFill>
              <a:srgbClr val="605E5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2240280" y="5157216"/>
            <a:ext cx="9509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 i="0">
                <a:solidFill>
                  <a:srgbClr val="605E5C"/>
                </a:solidFill>
                <a:latin typeface="Segoe UI"/>
              </a:rPr>
              <a:t>WHERE A HOMEGROWN FACTORY FALLS SHORT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240280" y="5440680"/>
            <a:ext cx="3108960" cy="822960"/>
          </a:xfrm>
          <a:prstGeom prst="roundRect">
            <a:avLst/>
          </a:prstGeom>
          <a:solidFill>
            <a:srgbClr val="F3F2F1"/>
          </a:solidFill>
          <a:ln w="9525">
            <a:solidFill>
              <a:srgbClr val="E1DF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ctr"/>
            <a:r>
              <a:rPr sz="1050" b="1" i="0">
                <a:solidFill>
                  <a:srgbClr val="0F6CBD"/>
                </a:solidFill>
                <a:latin typeface="Segoe UI"/>
              </a:rPr>
              <a:t>▪  </a:t>
            </a:r>
            <a:r>
              <a:rPr sz="1050" b="0" i="0">
                <a:solidFill>
                  <a:srgbClr val="201F1E"/>
                </a:solidFill>
                <a:latin typeface="Segoe UI"/>
              </a:rPr>
              <a:t>Managed orchestration (concurrent/sequential/handoff/Magentic)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0" y="5440680"/>
            <a:ext cx="3108960" cy="822960"/>
          </a:xfrm>
          <a:prstGeom prst="roundRect">
            <a:avLst/>
          </a:prstGeom>
          <a:solidFill>
            <a:srgbClr val="F3F2F1"/>
          </a:solidFill>
          <a:ln w="9525">
            <a:solidFill>
              <a:srgbClr val="E1DF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ctr"/>
            <a:r>
              <a:rPr sz="1050" b="1" i="0">
                <a:solidFill>
                  <a:srgbClr val="0F6CBD"/>
                </a:solidFill>
                <a:latin typeface="Segoe UI"/>
              </a:rPr>
              <a:t>▪  </a:t>
            </a:r>
            <a:r>
              <a:rPr sz="1050" b="0" i="0">
                <a:solidFill>
                  <a:srgbClr val="201F1E"/>
                </a:solidFill>
                <a:latin typeface="Segoe UI"/>
              </a:rPr>
              <a:t>Open, code-first (SK/AutoGen lineage), model-portable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732520" y="5440680"/>
            <a:ext cx="3108960" cy="822960"/>
          </a:xfrm>
          <a:prstGeom prst="roundRect">
            <a:avLst/>
          </a:prstGeom>
          <a:solidFill>
            <a:srgbClr val="F3F2F1"/>
          </a:solidFill>
          <a:ln w="9525">
            <a:solidFill>
              <a:srgbClr val="E1DF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ctr"/>
            <a:r>
              <a:rPr sz="1050" b="1" i="0">
                <a:solidFill>
                  <a:srgbClr val="0F6CBD"/>
                </a:solidFill>
                <a:latin typeface="Segoe UI"/>
              </a:rPr>
              <a:t>▪  </a:t>
            </a:r>
            <a:r>
              <a:rPr sz="1050" b="0" i="0">
                <a:solidFill>
                  <a:srgbClr val="201F1E"/>
                </a:solidFill>
                <a:latin typeface="Segoe UI"/>
              </a:rPr>
              <a:t>Honest guidance: default to Pattern 4; escalate when earned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920240" cy="6858000"/>
          </a:xfrm>
          <a:prstGeom prst="rect">
            <a:avLst/>
          </a:prstGeom>
          <a:solidFill>
            <a:srgbClr val="201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365760"/>
            <a:ext cx="1554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1" i="0">
                <a:solidFill>
                  <a:srgbClr val="0F6CBD"/>
                </a:solidFill>
                <a:latin typeface="Segoe UI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1600200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19F9D"/>
                </a:solidFill>
                <a:latin typeface="Segoe UI"/>
              </a:rPr>
              <a:t>PATTERN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48840" y="256032"/>
            <a:ext cx="97840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201F1E"/>
                </a:solidFill>
                <a:latin typeface="Segoe UI"/>
              </a:rPr>
              <a:t>Observability &amp; Tracing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1170432"/>
            <a:ext cx="9692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1">
                <a:solidFill>
                  <a:srgbClr val="0F6CBD"/>
                </a:solidFill>
                <a:latin typeface="Segoe UI"/>
              </a:rPr>
              <a:t>“A real Foundry agent, then one traced turn — same run in the portal AND App Insights. And it's OTel, so it's yours.”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1627632"/>
            <a:ext cx="9692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 i="0">
                <a:solidFill>
                  <a:srgbClr val="0F6CBD"/>
                </a:solidFill>
                <a:latin typeface="Segoe UI"/>
              </a:rPr>
              <a:t>DEMO   </a:t>
            </a:r>
            <a:r>
              <a:rPr sz="1150" b="0" i="0">
                <a:solidFill>
                  <a:srgbClr val="605E5C"/>
                </a:solidFill>
                <a:latin typeface="Segoe UI"/>
              </a:rPr>
              <a:t>Run enable_tracing.py — agent 'rm-assistant-traced' + its trace in BOTH Foundry Tracing and App Insights.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286000" y="2103120"/>
            <a:ext cx="2011680" cy="685800"/>
          </a:xfrm>
          <a:prstGeom prst="roundRect">
            <a:avLst/>
          </a:prstGeom>
          <a:solidFill>
            <a:srgbClr val="201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Foundry agent</a:t>
            </a:r>
          </a:p>
          <a:p>
            <a:pPr algn="ctr"/>
            <a:r>
              <a:rPr sz="850" b="0" i="1">
                <a:solidFill>
                  <a:srgbClr val="FFFFFF"/>
                </a:solidFill>
                <a:latin typeface="Segoe UI"/>
              </a:rPr>
              <a:t>rm-assistant-traced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0" y="2103120"/>
            <a:ext cx="2011680" cy="685800"/>
          </a:xfrm>
          <a:prstGeom prst="roundRect">
            <a:avLst/>
          </a:prstGeom>
          <a:solidFill>
            <a:srgbClr val="201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invoke_agent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0" y="2103120"/>
            <a:ext cx="2011680" cy="685800"/>
          </a:xfrm>
          <a:prstGeom prst="roundRect">
            <a:avLst/>
          </a:prstGeom>
          <a:solidFill>
            <a:srgbClr val="201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Tool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0" y="2103120"/>
            <a:ext cx="2011680" cy="685800"/>
          </a:xfrm>
          <a:prstGeom prst="roundRect">
            <a:avLst/>
          </a:prstGeom>
          <a:solidFill>
            <a:srgbClr val="201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Model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297680" y="2446020"/>
            <a:ext cx="274320" cy="0"/>
          </a:xfrm>
          <a:prstGeom prst="line">
            <a:avLst/>
          </a:prstGeom>
          <a:ln w="22225">
            <a:solidFill>
              <a:srgbClr val="605E5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583680" y="2446020"/>
            <a:ext cx="274320" cy="0"/>
          </a:xfrm>
          <a:prstGeom prst="line">
            <a:avLst/>
          </a:prstGeom>
          <a:ln w="22225">
            <a:solidFill>
              <a:srgbClr val="605E5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8869680" y="2446020"/>
            <a:ext cx="274320" cy="0"/>
          </a:xfrm>
          <a:prstGeom prst="line">
            <a:avLst/>
          </a:prstGeom>
          <a:ln w="22225">
            <a:solidFill>
              <a:srgbClr val="605E5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4389120" y="3246120"/>
            <a:ext cx="3840480" cy="822960"/>
          </a:xfrm>
          <a:prstGeom prst="roundRect">
            <a:avLst/>
          </a:prstGeom>
          <a:solidFill>
            <a:srgbClr val="0F6C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OpenTelemetry spans</a:t>
            </a:r>
          </a:p>
          <a:p>
            <a:pPr algn="ctr"/>
            <a:r>
              <a:rPr sz="850" b="0" i="1">
                <a:solidFill>
                  <a:srgbClr val="FFFFFF"/>
                </a:solidFill>
                <a:latin typeface="Segoe UI"/>
              </a:rPr>
              <a:t>tokens · latency · cost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286000" y="4160520"/>
            <a:ext cx="2743200" cy="68580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0F6C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0F6CBD"/>
                </a:solidFill>
                <a:latin typeface="Segoe UI"/>
              </a:rPr>
              <a:t>Foundry — Agents + Tracing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349240" y="4160520"/>
            <a:ext cx="2743200" cy="68580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0F6C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0F6CBD"/>
                </a:solidFill>
                <a:latin typeface="Segoe UI"/>
              </a:rPr>
              <a:t>Application Insights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412480" y="4160520"/>
            <a:ext cx="2743200" cy="6858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3B0A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605E5C"/>
                </a:solidFill>
                <a:latin typeface="Segoe UI"/>
              </a:rPr>
              <a:t>Datadog / Grafana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577840" y="2788920"/>
            <a:ext cx="731520" cy="457200"/>
          </a:xfrm>
          <a:prstGeom prst="line">
            <a:avLst/>
          </a:prstGeom>
          <a:ln w="22225">
            <a:solidFill>
              <a:srgbClr val="605E5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H="1">
            <a:off x="6309360" y="2788920"/>
            <a:ext cx="1554480" cy="457200"/>
          </a:xfrm>
          <a:prstGeom prst="line">
            <a:avLst/>
          </a:prstGeom>
          <a:ln w="22225">
            <a:solidFill>
              <a:srgbClr val="605E5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3657600" y="4069080"/>
            <a:ext cx="2651760" cy="91440"/>
          </a:xfrm>
          <a:prstGeom prst="line">
            <a:avLst/>
          </a:prstGeom>
          <a:ln w="22225">
            <a:solidFill>
              <a:srgbClr val="605E5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6309360" y="4069080"/>
            <a:ext cx="411480" cy="91440"/>
          </a:xfrm>
          <a:prstGeom prst="line">
            <a:avLst/>
          </a:prstGeom>
          <a:ln w="22225">
            <a:solidFill>
              <a:srgbClr val="605E5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6309360" y="4069080"/>
            <a:ext cx="3474720" cy="91440"/>
          </a:xfrm>
          <a:prstGeom prst="line">
            <a:avLst/>
          </a:prstGeom>
          <a:ln w="22225">
            <a:solidFill>
              <a:srgbClr val="605E5C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2240280" y="5157216"/>
            <a:ext cx="9509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 i="0">
                <a:solidFill>
                  <a:srgbClr val="605E5C"/>
                </a:solidFill>
                <a:latin typeface="Segoe UI"/>
              </a:rPr>
              <a:t>WHERE A HOMEGROWN FACTORY FALLS SHORT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240280" y="5440680"/>
            <a:ext cx="3108960" cy="822960"/>
          </a:xfrm>
          <a:prstGeom prst="roundRect">
            <a:avLst/>
          </a:prstGeom>
          <a:solidFill>
            <a:srgbClr val="F3F2F1"/>
          </a:solidFill>
          <a:ln w="9525">
            <a:solidFill>
              <a:srgbClr val="E1DF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ctr"/>
            <a:r>
              <a:rPr sz="1050" b="1" i="0">
                <a:solidFill>
                  <a:srgbClr val="0F6CBD"/>
                </a:solidFill>
                <a:latin typeface="Segoe UI"/>
              </a:rPr>
              <a:t>▪  </a:t>
            </a:r>
            <a:r>
              <a:rPr sz="1050" b="0" i="0">
                <a:solidFill>
                  <a:srgbClr val="201F1E"/>
                </a:solidFill>
                <a:latin typeface="Segoe UI"/>
              </a:rPr>
              <a:t>Agent shows in the Agents list; run traced server-side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0" y="5440680"/>
            <a:ext cx="3108960" cy="822960"/>
          </a:xfrm>
          <a:prstGeom prst="roundRect">
            <a:avLst/>
          </a:prstGeom>
          <a:solidFill>
            <a:srgbClr val="F3F2F1"/>
          </a:solidFill>
          <a:ln w="9525">
            <a:solidFill>
              <a:srgbClr val="E1DF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ctr"/>
            <a:r>
              <a:rPr sz="1050" b="1" i="0">
                <a:solidFill>
                  <a:srgbClr val="0F6CBD"/>
                </a:solidFill>
                <a:latin typeface="Segoe UI"/>
              </a:rPr>
              <a:t>▪  </a:t>
            </a:r>
            <a:r>
              <a:rPr sz="1050" b="0" i="0">
                <a:solidFill>
                  <a:srgbClr val="201F1E"/>
                </a:solidFill>
                <a:latin typeface="Segoe UI"/>
              </a:rPr>
              <a:t>Token + cost + latency per span — observability &amp; FinOps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732520" y="5440680"/>
            <a:ext cx="3108960" cy="822960"/>
          </a:xfrm>
          <a:prstGeom prst="roundRect">
            <a:avLst/>
          </a:prstGeom>
          <a:solidFill>
            <a:srgbClr val="F3F2F1"/>
          </a:solidFill>
          <a:ln w="9525">
            <a:solidFill>
              <a:srgbClr val="E1DF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ctr"/>
            <a:r>
              <a:rPr sz="1050" b="1" i="0">
                <a:solidFill>
                  <a:srgbClr val="0F6CBD"/>
                </a:solidFill>
                <a:latin typeface="Segoe UI"/>
              </a:rPr>
              <a:t>▪  </a:t>
            </a:r>
            <a:r>
              <a:rPr sz="1050" b="0" i="0">
                <a:solidFill>
                  <a:srgbClr val="201F1E"/>
                </a:solidFill>
                <a:latin typeface="Segoe UI"/>
              </a:rPr>
              <a:t>OpenTelemetry — portable to Datadog/Grafana, no lock-in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920240" cy="6858000"/>
          </a:xfrm>
          <a:prstGeom prst="rect">
            <a:avLst/>
          </a:prstGeom>
          <a:solidFill>
            <a:srgbClr val="201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365760"/>
            <a:ext cx="1554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1" i="0">
                <a:solidFill>
                  <a:srgbClr val="0F6CBD"/>
                </a:solidFill>
                <a:latin typeface="Segoe UI"/>
              </a:rPr>
              <a:t>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1600200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19F9D"/>
                </a:solidFill>
                <a:latin typeface="Segoe UI"/>
              </a:rPr>
              <a:t>PATTERN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48840" y="256032"/>
            <a:ext cx="97840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201F1E"/>
                </a:solidFill>
                <a:latin typeface="Segoe UI"/>
              </a:rPr>
              <a:t>Evaluation → Optimization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1170432"/>
            <a:ext cx="9692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1">
                <a:solidFill>
                  <a:srgbClr val="0F6CBD"/>
                </a:solidFill>
                <a:latin typeface="Segoe UI"/>
              </a:rPr>
              <a:t>“If you can't score it, you can't ship it safely — and you can't optimize it.”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1627632"/>
            <a:ext cx="9692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 i="0">
                <a:solidFill>
                  <a:srgbClr val="0F6CBD"/>
                </a:solidFill>
                <a:latin typeface="Segoe UI"/>
              </a:rPr>
              <a:t>DEMO   </a:t>
            </a:r>
            <a:r>
              <a:rPr sz="1150" b="0" i="0">
                <a:solidFill>
                  <a:srgbClr val="605E5C"/>
                </a:solidFill>
                <a:latin typeface="Segoe UI"/>
              </a:rPr>
              <a:t>Score the golden set locally AND in Foundry; a wrong 'suitable' tanks groundedness and the CI gate blocks the PR.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286000" y="3017520"/>
            <a:ext cx="2286000" cy="914400"/>
          </a:xfrm>
          <a:prstGeom prst="roundRect">
            <a:avLst/>
          </a:prstGeom>
          <a:solidFill>
            <a:srgbClr val="F3F2F1"/>
          </a:solidFill>
          <a:ln w="12700">
            <a:solidFill>
              <a:srgbClr val="B3B0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201F1E"/>
                </a:solidFill>
                <a:latin typeface="Segoe UI"/>
              </a:rPr>
              <a:t>Golden set</a:t>
            </a:r>
          </a:p>
          <a:p>
            <a:pPr algn="ctr"/>
            <a:r>
              <a:rPr sz="850" b="0" i="1">
                <a:solidFill>
                  <a:srgbClr val="201F1E"/>
                </a:solidFill>
                <a:latin typeface="Segoe UI"/>
              </a:rPr>
              <a:t>+ planted wrong row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80" y="3063240"/>
            <a:ext cx="1737360" cy="822960"/>
          </a:xfrm>
          <a:prstGeom prst="roundRect">
            <a:avLst/>
          </a:prstGeom>
          <a:solidFill>
            <a:srgbClr val="201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Agent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75120" y="2926080"/>
            <a:ext cx="2468880" cy="1097280"/>
          </a:xfrm>
          <a:prstGeom prst="roundRect">
            <a:avLst/>
          </a:prstGeom>
          <a:solidFill>
            <a:srgbClr val="0F6C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Evaluators</a:t>
            </a:r>
          </a:p>
          <a:p>
            <a:pPr algn="ctr"/>
            <a:r>
              <a:rPr sz="850" b="0" i="1">
                <a:solidFill>
                  <a:srgbClr val="FFFFFF"/>
                </a:solidFill>
                <a:latin typeface="Segoe UI"/>
              </a:rPr>
              <a:t>groundedness · tool-accuracy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26880" y="3063240"/>
            <a:ext cx="2194560" cy="82296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0F6C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0F6CBD"/>
                </a:solidFill>
                <a:latin typeface="Segoe UI"/>
              </a:rPr>
              <a:t>CI gate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326880" y="4206240"/>
            <a:ext cx="2194560" cy="685800"/>
          </a:xfrm>
          <a:prstGeom prst="roundRect">
            <a:avLst/>
          </a:prstGeom>
          <a:solidFill>
            <a:srgbClr val="C53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FAIL → blocks merge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75120" y="4572000"/>
            <a:ext cx="2468880" cy="68580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0F6C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0F6CBD"/>
                </a:solidFill>
                <a:latin typeface="Segoe UI"/>
              </a:rPr>
              <a:t>Foundry — Evaluations tab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572000" y="3474720"/>
            <a:ext cx="182880" cy="0"/>
          </a:xfrm>
          <a:prstGeom prst="line">
            <a:avLst/>
          </a:prstGeom>
          <a:ln w="22225">
            <a:solidFill>
              <a:srgbClr val="605E5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492240" y="3474720"/>
            <a:ext cx="182880" cy="0"/>
          </a:xfrm>
          <a:prstGeom prst="line">
            <a:avLst/>
          </a:prstGeom>
          <a:ln w="22225">
            <a:solidFill>
              <a:srgbClr val="605E5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9144000" y="3474720"/>
            <a:ext cx="182880" cy="0"/>
          </a:xfrm>
          <a:prstGeom prst="line">
            <a:avLst/>
          </a:prstGeom>
          <a:ln w="22225">
            <a:solidFill>
              <a:srgbClr val="605E5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0424160" y="3886200"/>
            <a:ext cx="0" cy="320040"/>
          </a:xfrm>
          <a:prstGeom prst="line">
            <a:avLst/>
          </a:prstGeom>
          <a:ln w="22225">
            <a:solidFill>
              <a:srgbClr val="C5301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7909560" y="4023360"/>
            <a:ext cx="0" cy="548640"/>
          </a:xfrm>
          <a:prstGeom prst="line">
            <a:avLst/>
          </a:prstGeom>
          <a:ln w="22225">
            <a:solidFill>
              <a:srgbClr val="605E5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2240280" y="5157216"/>
            <a:ext cx="9509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 i="0">
                <a:solidFill>
                  <a:srgbClr val="605E5C"/>
                </a:solidFill>
                <a:latin typeface="Segoe UI"/>
              </a:rPr>
              <a:t>WHERE A HOMEGROWN FACTORY FALLS SHORT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240280" y="5440680"/>
            <a:ext cx="3108960" cy="822960"/>
          </a:xfrm>
          <a:prstGeom prst="roundRect">
            <a:avLst/>
          </a:prstGeom>
          <a:solidFill>
            <a:srgbClr val="F3F2F1"/>
          </a:solidFill>
          <a:ln w="9525">
            <a:solidFill>
              <a:srgbClr val="E1DF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ctr"/>
            <a:r>
              <a:rPr sz="1050" b="1" i="0">
                <a:solidFill>
                  <a:srgbClr val="0F6CBD"/>
                </a:solidFill>
                <a:latin typeface="Segoe UI"/>
              </a:rPr>
              <a:t>▪  </a:t>
            </a:r>
            <a:r>
              <a:rPr sz="1050" b="0" i="0">
                <a:solidFill>
                  <a:srgbClr val="201F1E"/>
                </a:solidFill>
                <a:latin typeface="Segoe UI"/>
              </a:rPr>
              <a:t>Agent-grade evaluators (groundedness, tool-call, intent)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0" y="5440680"/>
            <a:ext cx="3108960" cy="822960"/>
          </a:xfrm>
          <a:prstGeom prst="roundRect">
            <a:avLst/>
          </a:prstGeom>
          <a:solidFill>
            <a:srgbClr val="F3F2F1"/>
          </a:solidFill>
          <a:ln w="9525">
            <a:solidFill>
              <a:srgbClr val="E1DF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ctr"/>
            <a:r>
              <a:rPr sz="1050" b="1" i="0">
                <a:solidFill>
                  <a:srgbClr val="0F6CBD"/>
                </a:solidFill>
                <a:latin typeface="Segoe UI"/>
              </a:rPr>
              <a:t>▪  </a:t>
            </a:r>
            <a:r>
              <a:rPr sz="1050" b="0" i="0">
                <a:solidFill>
                  <a:srgbClr val="201F1E"/>
                </a:solidFill>
                <a:latin typeface="Segoe UI"/>
              </a:rPr>
              <a:t>Scores locally + uploads to the Foundry Evaluations tab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732520" y="5440680"/>
            <a:ext cx="3108960" cy="822960"/>
          </a:xfrm>
          <a:prstGeom prst="roundRect">
            <a:avLst/>
          </a:prstGeom>
          <a:solidFill>
            <a:srgbClr val="F3F2F1"/>
          </a:solidFill>
          <a:ln w="9525">
            <a:solidFill>
              <a:srgbClr val="E1DF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ctr"/>
            <a:r>
              <a:rPr sz="1050" b="1" i="0">
                <a:solidFill>
                  <a:srgbClr val="0F6CBD"/>
                </a:solidFill>
                <a:latin typeface="Segoe UI"/>
              </a:rPr>
              <a:t>▪  </a:t>
            </a:r>
            <a:r>
              <a:rPr sz="1050" b="0" i="0">
                <a:solidFill>
                  <a:srgbClr val="201F1E"/>
                </a:solidFill>
                <a:latin typeface="Segoe UI"/>
              </a:rPr>
              <a:t>CI gate on every PR — regressions can't merge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920240" cy="6858000"/>
          </a:xfrm>
          <a:prstGeom prst="rect">
            <a:avLst/>
          </a:prstGeom>
          <a:solidFill>
            <a:srgbClr val="201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365760"/>
            <a:ext cx="1554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1" i="0">
                <a:solidFill>
                  <a:srgbClr val="0F6CBD"/>
                </a:solidFill>
                <a:latin typeface="Segoe UI"/>
              </a:rPr>
              <a:t>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1600200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19F9D"/>
                </a:solidFill>
                <a:latin typeface="Segoe UI"/>
              </a:rPr>
              <a:t>PATTERN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48840" y="256032"/>
            <a:ext cx="97840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201F1E"/>
                </a:solidFill>
                <a:latin typeface="Segoe UI"/>
              </a:rPr>
              <a:t>Governance / Prompt Shields / Content Safety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1170432"/>
            <a:ext cx="9692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1">
                <a:solidFill>
                  <a:srgbClr val="0F6CBD"/>
                </a:solidFill>
                <a:latin typeface="Segoe UI"/>
              </a:rPr>
              <a:t>“Your gateway checks tokens. Foundry checks the attack — even the one hidden in a document.”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1627632"/>
            <a:ext cx="9692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 i="0">
                <a:solidFill>
                  <a:srgbClr val="0F6CBD"/>
                </a:solidFill>
                <a:latin typeface="Segoe UI"/>
              </a:rPr>
              <a:t>DEMO   </a:t>
            </a:r>
            <a:r>
              <a:rPr sz="1150" b="0" i="0">
                <a:solidFill>
                  <a:srgbClr val="605E5C"/>
                </a:solidFill>
                <a:latin typeface="Segoe UI"/>
              </a:rPr>
              <a:t>LIVE + keyless: Prompt Shields blocks a direct jailbreak and a document-hidden XPIA; a clean question passes.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286000" y="2240280"/>
            <a:ext cx="2468880" cy="777240"/>
          </a:xfrm>
          <a:prstGeom prst="roundRect">
            <a:avLst/>
          </a:prstGeom>
          <a:solidFill>
            <a:srgbClr val="F3F2F1"/>
          </a:solidFill>
          <a:ln w="12700">
            <a:solidFill>
              <a:srgbClr val="B3B0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201F1E"/>
                </a:solidFill>
                <a:latin typeface="Segoe UI"/>
              </a:rPr>
              <a:t>User turn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286000" y="4114800"/>
            <a:ext cx="2468880" cy="777240"/>
          </a:xfrm>
          <a:prstGeom prst="roundRect">
            <a:avLst/>
          </a:prstGeom>
          <a:solidFill>
            <a:srgbClr val="F3F2F1"/>
          </a:solidFill>
          <a:ln w="12700">
            <a:solidFill>
              <a:srgbClr val="B3B0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201F1E"/>
                </a:solidFill>
                <a:latin typeface="Segoe UI"/>
              </a:rPr>
              <a:t>Client doc — hidden XPIA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120640" y="2971800"/>
            <a:ext cx="2743200" cy="1097280"/>
          </a:xfrm>
          <a:prstGeom prst="roundRect">
            <a:avLst/>
          </a:prstGeom>
          <a:solidFill>
            <a:srgbClr val="0F6C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Prompt Shields</a:t>
            </a:r>
          </a:p>
          <a:p>
            <a:pPr algn="ctr"/>
            <a:r>
              <a:rPr sz="850" b="0" i="1">
                <a:solidFill>
                  <a:srgbClr val="FFFFFF"/>
                </a:solidFill>
                <a:latin typeface="Segoe UI"/>
              </a:rPr>
              <a:t>jailbreak + indirect (XPIA)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0" y="2331720"/>
            <a:ext cx="2743200" cy="777240"/>
          </a:xfrm>
          <a:prstGeom prst="roundRect">
            <a:avLst/>
          </a:prstGeom>
          <a:solidFill>
            <a:srgbClr val="201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Agent → model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0" y="4114800"/>
            <a:ext cx="2743200" cy="777240"/>
          </a:xfrm>
          <a:prstGeom prst="roundRect">
            <a:avLst/>
          </a:prstGeom>
          <a:solidFill>
            <a:srgbClr val="C53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BLOCKED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754880" y="2628900"/>
            <a:ext cx="365760" cy="891540"/>
          </a:xfrm>
          <a:prstGeom prst="line">
            <a:avLst/>
          </a:prstGeom>
          <a:ln w="22225">
            <a:solidFill>
              <a:srgbClr val="605E5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4754880" y="3520440"/>
            <a:ext cx="365760" cy="982980"/>
          </a:xfrm>
          <a:prstGeom prst="line">
            <a:avLst/>
          </a:prstGeom>
          <a:ln w="22225">
            <a:solidFill>
              <a:srgbClr val="605E5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7863840" y="2720340"/>
            <a:ext cx="822960" cy="800100"/>
          </a:xfrm>
          <a:prstGeom prst="line">
            <a:avLst/>
          </a:prstGeom>
          <a:ln w="22225">
            <a:solidFill>
              <a:srgbClr val="605E5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589520" y="2964942"/>
            <a:ext cx="1371600" cy="310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anchor="ctr">
            <a:spAutoFit/>
          </a:bodyPr>
          <a:lstStyle/>
          <a:p>
            <a:pPr algn="ctr"/>
            <a:r>
              <a:rPr sz="850" b="0" i="1">
                <a:solidFill>
                  <a:srgbClr val="605E5C"/>
                </a:solidFill>
                <a:latin typeface="Segoe UI"/>
              </a:rPr>
              <a:t>allow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863840" y="3520440"/>
            <a:ext cx="822960" cy="982980"/>
          </a:xfrm>
          <a:prstGeom prst="line">
            <a:avLst/>
          </a:prstGeom>
          <a:ln w="22225">
            <a:solidFill>
              <a:srgbClr val="C5301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589520" y="3856482"/>
            <a:ext cx="1371600" cy="310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anchor="ctr">
            <a:spAutoFit/>
          </a:bodyPr>
          <a:lstStyle/>
          <a:p>
            <a:pPr algn="ctr"/>
            <a:r>
              <a:rPr sz="850" b="0" i="1">
                <a:solidFill>
                  <a:srgbClr val="605E5C"/>
                </a:solidFill>
                <a:latin typeface="Segoe UI"/>
              </a:rPr>
              <a:t>deny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40280" y="5157216"/>
            <a:ext cx="9509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 i="0">
                <a:solidFill>
                  <a:srgbClr val="605E5C"/>
                </a:solidFill>
                <a:latin typeface="Segoe UI"/>
              </a:rPr>
              <a:t>WHERE A HOMEGROWN FACTORY FALLS SHORT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240280" y="5440680"/>
            <a:ext cx="3108960" cy="822960"/>
          </a:xfrm>
          <a:prstGeom prst="roundRect">
            <a:avLst/>
          </a:prstGeom>
          <a:solidFill>
            <a:srgbClr val="F3F2F1"/>
          </a:solidFill>
          <a:ln w="9525">
            <a:solidFill>
              <a:srgbClr val="E1DF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ctr"/>
            <a:r>
              <a:rPr sz="1050" b="1" i="0">
                <a:solidFill>
                  <a:srgbClr val="0F6CBD"/>
                </a:solidFill>
                <a:latin typeface="Segoe UI"/>
              </a:rPr>
              <a:t>▪  </a:t>
            </a:r>
            <a:r>
              <a:rPr sz="1050" b="0" i="0">
                <a:solidFill>
                  <a:srgbClr val="201F1E"/>
                </a:solidFill>
                <a:latin typeface="Segoe UI"/>
              </a:rPr>
              <a:t>XPIA / indirect-injection defence — rarely built in-house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0" y="5440680"/>
            <a:ext cx="3108960" cy="822960"/>
          </a:xfrm>
          <a:prstGeom prst="roundRect">
            <a:avLst/>
          </a:prstGeom>
          <a:solidFill>
            <a:srgbClr val="F3F2F1"/>
          </a:solidFill>
          <a:ln w="9525">
            <a:solidFill>
              <a:srgbClr val="E1DF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ctr"/>
            <a:r>
              <a:rPr sz="1050" b="1" i="0">
                <a:solidFill>
                  <a:srgbClr val="0F6CBD"/>
                </a:solidFill>
                <a:latin typeface="Segoe UI"/>
              </a:rPr>
              <a:t>▪  </a:t>
            </a:r>
            <a:r>
              <a:rPr sz="1050" b="0" i="0">
                <a:solidFill>
                  <a:srgbClr val="201F1E"/>
                </a:solidFill>
                <a:latin typeface="Segoe UI"/>
              </a:rPr>
              <a:t>Entra Agent ID — scoped, conditional-access identity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732520" y="5440680"/>
            <a:ext cx="3108960" cy="822960"/>
          </a:xfrm>
          <a:prstGeom prst="roundRect">
            <a:avLst/>
          </a:prstGeom>
          <a:solidFill>
            <a:srgbClr val="F3F2F1"/>
          </a:solidFill>
          <a:ln w="9525">
            <a:solidFill>
              <a:srgbClr val="E1DF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ctr"/>
            <a:r>
              <a:rPr sz="1050" b="1" i="0">
                <a:solidFill>
                  <a:srgbClr val="0F6CBD"/>
                </a:solidFill>
                <a:latin typeface="Segoe UI"/>
              </a:rPr>
              <a:t>▪  </a:t>
            </a:r>
            <a:r>
              <a:rPr sz="1050" b="0" i="0">
                <a:solidFill>
                  <a:srgbClr val="201F1E"/>
                </a:solidFill>
                <a:latin typeface="Segoe UI"/>
              </a:rPr>
              <a:t>Purview DSPM for AI — one DLP/audit plane across clouds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920240" cy="6858000"/>
          </a:xfrm>
          <a:prstGeom prst="rect">
            <a:avLst/>
          </a:prstGeom>
          <a:solidFill>
            <a:srgbClr val="201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365760"/>
            <a:ext cx="1554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1" i="0">
                <a:solidFill>
                  <a:srgbClr val="0F6CBD"/>
                </a:solidFill>
                <a:latin typeface="Segoe UI"/>
              </a:rPr>
              <a:t>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1600200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19F9D"/>
                </a:solidFill>
                <a:latin typeface="Segoe UI"/>
              </a:rPr>
              <a:t>PATTERN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48840" y="256032"/>
            <a:ext cx="97840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201F1E"/>
                </a:solidFill>
                <a:latin typeface="Segoe UI"/>
              </a:rPr>
              <a:t>AWS Cross-cloud Interop (the close)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1170432"/>
            <a:ext cx="9692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1">
                <a:solidFill>
                  <a:srgbClr val="0F6CBD"/>
                </a:solidFill>
                <a:latin typeface="Segoe UI"/>
              </a:rPr>
              <a:t>“Bedrock runs an agent. Foundry runs the agent factory. MCP and A2A let each cloud do what it's best at.”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1627632"/>
            <a:ext cx="9692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 i="0">
                <a:solidFill>
                  <a:srgbClr val="0F6CBD"/>
                </a:solidFill>
                <a:latin typeface="Segoe UI"/>
              </a:rPr>
              <a:t>DEMO   </a:t>
            </a:r>
            <a:r>
              <a:rPr sz="1150" b="0" i="0">
                <a:solidFill>
                  <a:srgbClr val="605E5C"/>
                </a:solidFill>
                <a:latin typeface="Segoe UI"/>
              </a:rPr>
              <a:t>Foundry agent calls an AWS tool over MCP (mock Lambda); A2A hands off to a Bedrock agent.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240280" y="2103120"/>
            <a:ext cx="3977639" cy="2926080"/>
          </a:xfrm>
          <a:prstGeom prst="roundRect">
            <a:avLst/>
          </a:prstGeom>
          <a:solidFill>
            <a:srgbClr val="EBF3FB"/>
          </a:solidFill>
          <a:ln w="12700">
            <a:solidFill>
              <a:srgbClr val="B3B0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68296" y="2157984"/>
            <a:ext cx="3721607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 i="0">
                <a:solidFill>
                  <a:srgbClr val="605E5C"/>
                </a:solidFill>
                <a:latin typeface="Segoe UI"/>
              </a:rPr>
              <a:t>Microsoft Azure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60920" y="2103120"/>
            <a:ext cx="4434840" cy="2926080"/>
          </a:xfrm>
          <a:prstGeom prst="roundRect">
            <a:avLst/>
          </a:prstGeom>
          <a:solidFill>
            <a:srgbClr val="F7EFE3"/>
          </a:solidFill>
          <a:ln w="12700">
            <a:solidFill>
              <a:srgbClr val="B3B0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88936" y="2157984"/>
            <a:ext cx="417880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 i="0">
                <a:solidFill>
                  <a:srgbClr val="605E5C"/>
                </a:solidFill>
                <a:latin typeface="Segoe UI"/>
              </a:rPr>
              <a:t>AWS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60320" y="3154680"/>
            <a:ext cx="2788920" cy="868680"/>
          </a:xfrm>
          <a:prstGeom prst="roundRect">
            <a:avLst/>
          </a:prstGeom>
          <a:solidFill>
            <a:srgbClr val="201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Foundry Agent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3154680"/>
            <a:ext cx="1737360" cy="868680"/>
          </a:xfrm>
          <a:prstGeom prst="roundRect">
            <a:avLst/>
          </a:prstGeom>
          <a:solidFill>
            <a:srgbClr val="0F6C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MCP / A2A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26679" y="2560320"/>
            <a:ext cx="3611880" cy="731520"/>
          </a:xfrm>
          <a:prstGeom prst="roundRect">
            <a:avLst/>
          </a:prstGeom>
          <a:solidFill>
            <a:srgbClr val="F3F2F1"/>
          </a:solidFill>
          <a:ln w="12700">
            <a:solidFill>
              <a:srgbClr val="B3B0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201F1E"/>
                </a:solidFill>
                <a:latin typeface="Segoe UI"/>
              </a:rPr>
              <a:t>AWS tool — Lambda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26679" y="4114800"/>
            <a:ext cx="3611880" cy="731520"/>
          </a:xfrm>
          <a:prstGeom prst="roundRect">
            <a:avLst/>
          </a:prstGeom>
          <a:solidFill>
            <a:srgbClr val="F3F2F1"/>
          </a:solidFill>
          <a:ln w="12700">
            <a:solidFill>
              <a:srgbClr val="B3B0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201F1E"/>
                </a:solidFill>
                <a:latin typeface="Segoe UI"/>
              </a:rPr>
              <a:t>Amazon Bedrock agent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349240" y="3589020"/>
            <a:ext cx="1005840" cy="0"/>
          </a:xfrm>
          <a:prstGeom prst="line">
            <a:avLst/>
          </a:prstGeom>
          <a:ln w="22225">
            <a:solidFill>
              <a:srgbClr val="605E5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 flipV="1">
            <a:off x="7726679" y="2926080"/>
            <a:ext cx="365761" cy="662940"/>
          </a:xfrm>
          <a:prstGeom prst="line">
            <a:avLst/>
          </a:prstGeom>
          <a:ln w="22225">
            <a:solidFill>
              <a:srgbClr val="605E5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H="1">
            <a:off x="7726679" y="3589020"/>
            <a:ext cx="365761" cy="891540"/>
          </a:xfrm>
          <a:prstGeom prst="line">
            <a:avLst/>
          </a:prstGeom>
          <a:ln w="22225">
            <a:solidFill>
              <a:srgbClr val="605E5C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7223759" y="3879342"/>
            <a:ext cx="1371600" cy="310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anchor="ctr">
            <a:spAutoFit/>
          </a:bodyPr>
          <a:lstStyle/>
          <a:p>
            <a:pPr algn="ctr"/>
            <a:r>
              <a:rPr sz="850" b="0" i="1">
                <a:solidFill>
                  <a:srgbClr val="605E5C"/>
                </a:solidFill>
                <a:latin typeface="Segoe UI"/>
              </a:rPr>
              <a:t>A2A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240280" y="5157216"/>
            <a:ext cx="9509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 i="0">
                <a:solidFill>
                  <a:srgbClr val="605E5C"/>
                </a:solidFill>
                <a:latin typeface="Segoe UI"/>
              </a:rPr>
              <a:t>WHERE A HOMEGROWN FACTORY FALLS SHORT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240280" y="5440680"/>
            <a:ext cx="3108960" cy="822960"/>
          </a:xfrm>
          <a:prstGeom prst="roundRect">
            <a:avLst/>
          </a:prstGeom>
          <a:solidFill>
            <a:srgbClr val="F3F2F1"/>
          </a:solidFill>
          <a:ln w="9525">
            <a:solidFill>
              <a:srgbClr val="E1DF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ctr"/>
            <a:r>
              <a:rPr sz="1050" b="1" i="0">
                <a:solidFill>
                  <a:srgbClr val="0F6CBD"/>
                </a:solidFill>
                <a:latin typeface="Segoe UI"/>
              </a:rPr>
              <a:t>▪  </a:t>
            </a:r>
            <a:r>
              <a:rPr sz="1050" b="0" i="0">
                <a:solidFill>
                  <a:srgbClr val="201F1E"/>
                </a:solidFill>
                <a:latin typeface="Segoe UI"/>
              </a:rPr>
              <a:t>Wrap, don't rewrite — call AWS tools from Foundry via MCP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0" y="5440680"/>
            <a:ext cx="3108960" cy="822960"/>
          </a:xfrm>
          <a:prstGeom prst="roundRect">
            <a:avLst/>
          </a:prstGeom>
          <a:solidFill>
            <a:srgbClr val="F3F2F1"/>
          </a:solidFill>
          <a:ln w="9525">
            <a:solidFill>
              <a:srgbClr val="E1DF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ctr"/>
            <a:r>
              <a:rPr sz="1050" b="1" i="0">
                <a:solidFill>
                  <a:srgbClr val="0F6CBD"/>
                </a:solidFill>
                <a:latin typeface="Segoe UI"/>
              </a:rPr>
              <a:t>▪  </a:t>
            </a:r>
            <a:r>
              <a:rPr sz="1050" b="0" i="0">
                <a:solidFill>
                  <a:srgbClr val="201F1E"/>
                </a:solidFill>
                <a:latin typeface="Segoe UI"/>
              </a:rPr>
              <a:t>A2A hand-off exposes Foundry agents to Bedrock and back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732520" y="5440680"/>
            <a:ext cx="3108960" cy="822960"/>
          </a:xfrm>
          <a:prstGeom prst="roundRect">
            <a:avLst/>
          </a:prstGeom>
          <a:solidFill>
            <a:srgbClr val="F3F2F1"/>
          </a:solidFill>
          <a:ln w="9525">
            <a:solidFill>
              <a:srgbClr val="E1DF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ctr"/>
            <a:r>
              <a:rPr sz="1050" b="1" i="0">
                <a:solidFill>
                  <a:srgbClr val="0F6CBD"/>
                </a:solidFill>
                <a:latin typeface="Segoe UI"/>
              </a:rPr>
              <a:t>▪  </a:t>
            </a:r>
            <a:r>
              <a:rPr sz="1050" b="0" i="0">
                <a:solidFill>
                  <a:srgbClr val="201F1E"/>
                </a:solidFill>
                <a:latin typeface="Segoe UI"/>
              </a:rPr>
              <a:t>Governance overlay (Entra + Purview) spans both clouds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01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486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Segoe UI"/>
              </a:rPr>
              <a:t>Coexistence — and the close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789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 b="1" i="0">
                <a:solidFill>
                  <a:srgbClr val="0F6CBD"/>
                </a:solidFill>
                <a:latin typeface="Segoe UI"/>
              </a:rPr>
              <a:t>Bedrock runs an agent. Foundry runs the agent FACTORY. MCP + A2A join the two.</a:t>
            </a:r>
          </a:p>
          <a:p>
            <a:pPr>
              <a:spcAft>
                <a:spcPts val="1200"/>
              </a:spcAft>
            </a:pPr>
            <a:r>
              <a:rPr sz="1600" b="0" i="0">
                <a:solidFill>
                  <a:srgbClr val="C8C6C4"/>
                </a:solidFill>
                <a:latin typeface="Segoe UI"/>
              </a:rPr>
              <a:t>Keep Bedrock where it works · add Foundry where you have gaps (identity, eval, tracing, grounding, safety) · unify governance with Purview across both clouds.</a:t>
            </a:r>
          </a:p>
          <a:p>
            <a:pPr>
              <a:spcAft>
                <a:spcPts val="1200"/>
              </a:spcAft>
            </a:pPr>
            <a:r>
              <a:rPr sz="1600" b="0" i="0">
                <a:solidFill>
                  <a:srgbClr val="C8C6C4"/>
                </a:solidFill>
                <a:latin typeface="Segoe UI"/>
              </a:rPr>
              <a:t/>
            </a:r>
          </a:p>
          <a:p>
            <a:pPr>
              <a:spcAft>
                <a:spcPts val="1200"/>
              </a:spcAft>
            </a:pPr>
            <a:r>
              <a:rPr sz="2200" b="1" i="0">
                <a:solidFill>
                  <a:srgbClr val="0F6CBD"/>
                </a:solidFill>
                <a:latin typeface="Segoe UI"/>
              </a:rPr>
              <a:t>Foundry  +  Citadel  +  Agentic Patterns.</a:t>
            </a:r>
          </a:p>
          <a:p>
            <a:pPr>
              <a:spcAft>
                <a:spcPts val="1200"/>
              </a:spcAft>
            </a:pPr>
            <a:r>
              <a:rPr sz="1600" b="0" i="0">
                <a:solidFill>
                  <a:srgbClr val="C8C6C4"/>
                </a:solidFill>
                <a:latin typeface="Segoe UI"/>
              </a:rPr>
              <a:t>Platform. Governance at scale. The fastest path to business value.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