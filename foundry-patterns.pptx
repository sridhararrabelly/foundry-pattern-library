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59" r:id="rId4"/>
    <p:sldId id="272" r:id="rId5"/>
    <p:sldId id="273" r:id="rId6"/>
    <p:sldId id="266" r:id="rId7"/>
    <p:sldId id="278" r:id="rId21"/>
    <p:sldId id="274" r:id="rId8"/>
    <p:sldId id="260" r:id="rId9"/>
    <p:sldId id="261" r:id="rId10"/>
    <p:sldId id="276" r:id="rId11"/>
    <p:sldId id="279" r:id="rId28"/>
    <p:sldId id="268" r:id="rId13"/>
    <p:sldId id="277" r:id="rId14"/>
    <p:sldId id="262" r:id="rId12"/>
    <p:sldId id="263" r:id="rId15"/>
    <p:sldId id="267" r:id="rId16"/>
    <p:sldId id="275" r:id="rId17"/>
    <p:sldId id="265" r:id="rId19"/>
    <p:sldId id="264" r:id="rId18"/>
    <p:sldId id="269" r:id="rId20"/>
    <p:sldId id="280" r:id="rId29"/>
    <p:sldId id="271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6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4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5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slide" Target="slides/slide18.xml"/><Relationship Id="rId18" Type="http://schemas.openxmlformats.org/officeDocument/2006/relationships/slide" Target="slides/slide20.xml"/><Relationship Id="rId19" Type="http://schemas.openxmlformats.org/officeDocument/2006/relationships/slide" Target="slides/slide19.xml"/><Relationship Id="rId20" Type="http://schemas.openxmlformats.org/officeDocument/2006/relationships/slide" Target="slides/slide21.xml"/><Relationship Id="rId21" Type="http://schemas.openxmlformats.org/officeDocument/2006/relationships/slide" Target="slides/slide7.xml"/><Relationship Id="rId22" Type="http://schemas.openxmlformats.org/officeDocument/2006/relationships/slide" Target="slides/slide23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2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723724-54E5-4DF4-8FF7-81F9185758A9}" type="datetimeFigureOut">
              <a:rPr lang="en-ZA" smtClean="0"/>
              <a:t>2026/08/23</a:t>
            </a:fld>
            <a:endParaRPr lang="en-Z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Z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Z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2C589E-DFF3-40E2-BF66-B2735D0DA030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2432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838952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779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Microsoft Foundry Patterns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Runnable patterns for building, governing and operating agents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in GitHub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 in Foundry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  → 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Reach in M365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 patterns   ·   15 demos   ·   for architects &amp; principal engineers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Keep your gateway and cloud — add the agent factory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66928" y="1417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gateway gives you MODEL ACCESS.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LiteLLM gateway (or Azure API Management) is the right pattern for that — one OpenAI-compatible endpoint, keys, budgets, routing across providers.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65176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gives you the AGENT FACTORY.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The runtime (Plan / Act / Observe), grounding (Microsoft IQ), identity, evaluation, tracing, memory, caching and safety plane AROUND the models — exactly the depth a homegrown factory lacks.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4434840"/>
            <a:ext cx="3291840" cy="1051560"/>
          </a:xfrm>
          <a:prstGeom prst="roundRect">
            <a:avLst>
              <a:gd name="adj" fmla="val 6957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60120" y="4434840"/>
            <a:ext cx="320040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LiteLLM / APIM — model access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532120" y="4434840"/>
            <a:ext cx="5760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577840" y="4434840"/>
            <a:ext cx="5669280" cy="10515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the agent factory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· Microsoft IQ · identity · eval · tracing · safety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206240" y="4956048"/>
            <a:ext cx="1325880" cy="914"/>
          </a:xfrm>
          <a:prstGeom prst="line">
            <a:avLst/>
          </a:prstGeom>
          <a:noFill/>
          <a:ln w="31750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160520" y="45537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add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10896"/>
            <a:ext cx="110551" cy="11055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94121" y="310896"/>
            <a:ext cx="110551" cy="11055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66928" y="438089"/>
            <a:ext cx="110551" cy="11055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94121" y="438089"/>
            <a:ext cx="110551" cy="11055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25603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676656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Run-of-show — four groups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566928" y="1572768"/>
          <a:ext cx="5440680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PLATFORM FOUNDATION &amp; GOVERNANCE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gateway &amp; model access (APIM)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AI safety (Prompt Shields + Content Safety)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Human approval for consequential tool actions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410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 CONSTRUCTION &amp; KNOWLEDGE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Foundry Agent Service (prompt and hosted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Microsoft IQ — the intelligence layer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Centralized Toolboxes (one governed MCP endpoint)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Model adaptation (fine-tuning &amp; evaluation)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  <a:tr h="372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10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Memory (short-term + long-term)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2766632"/>
                  </a:ext>
                </a:extLst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/>
        </p:nvGraphicFramePr>
        <p:xfrm>
          <a:off x="6309360" y="1572768"/>
          <a:ext cx="5321808" cy="409651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3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Index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Patterns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1F2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651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ORCHESTRATION &amp; INTEROPERABILITY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Agentic Loop (build skills, not agents)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Multi-agent orchestration (Agent Framework)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Cross-cloud interop (MCP / A2A)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651">
                <a:tc gridSpan="2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LIFECYCLE, ASSURANCE &amp; OPERATIONS</a:t>
                      </a:r>
                      <a:endParaRPr lang="en-US" sz="1100" b="1" dirty="0">
                        <a:solidFill>
                          <a:srgbClr val="7854A3"/>
                        </a:solidFill>
                        <a:latin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/>
                        <a:t/>
                      </a:r>
                      <a:endParaRPr/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Evaluation &amp; release gate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solidFill>
                            <a:srgbClr val="24242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Observability &amp; tracing (OpenTelemetry)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11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Cost &amp; latency (prompt cache + Model Router)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  <a:tr h="40965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>
                          <a:solidFill>
                            <a:srgbClr val="7854A3"/>
                          </a:solidFill>
                          <a:latin typeface="Segoe UI" charset="0"/>
                          <a:ea typeface="Segoe UI" charset="0"/>
                          <a:cs typeface="Segoe UI" charset="0"/>
                        </a:rPr>
                        <a:t>15</a:t>
                      </a:r>
                      <a:endParaRPr lang="en-US" sz="1200" b="1" dirty="0">
                        <a:solidFill>
                          <a:srgbClr val="7854A3"/>
                        </a:solidFill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>
                          <a:latin typeface="Segoe UI" charset="0"/>
                          <a:ea typeface="Segoe UI" charset="0"/>
                          <a:cs typeface="Segoe UI" charset="0"/>
                        </a:rPr>
                        <a:t>Agent lifecycle &amp; promotion (dev → test → prod)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1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3391649"/>
                  </a:ext>
                </a:extLst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566928" y="60533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Fifteen patterns in four groups. One slide, one live demo each.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7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8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 foundation &amp; governance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governed model access and safety controls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01  AI gateway   ·   08  AI safety   ·   13  Human approval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1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82479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gateway &amp; model access (APIM)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gateway gives you model access. Foundry gives you the agent factory.”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OpenAI-shaped call, keyless via Entra ID — 401 without a token, 200 with.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app /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API key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 (APIM)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validate-azure-ad-token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gpt-5.4-mini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provider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246120" y="331012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ID token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23760" y="31455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identity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gateway stays — zero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Reframes gateway as commodity; factory as the differentiation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APIM + Foundry composition — no rip-and-replace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08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safety (Prompt Shields + Content Safety)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“Your gateway checks tokens. Foundry checks the attack — even the one hidden in a document.”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LIVE + keyless: Prompt Shields blocks a direct jailbreak and a document-hidden XPIA; a clean question passes.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2880360"/>
            <a:ext cx="2286000" cy="7315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2880360"/>
            <a:ext cx="21945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User turn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200400"/>
            <a:ext cx="2926080" cy="960120"/>
          </a:xfrm>
          <a:prstGeom prst="roundRect">
            <a:avLst>
              <a:gd name="adj" fmla="val 761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200400"/>
            <a:ext cx="2834640" cy="960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Shields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jailbreak + indirect (XPIA)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275320" y="265176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E4F3EA"/>
          </a:solidFill>
          <a:ln w="13970">
            <a:solidFill>
              <a:srgbClr val="8FC79E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321040" y="265176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→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1520" y="416052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77240" y="416052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Client doc — hidden XPIA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275320" y="4206240"/>
            <a:ext cx="31089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BLOCKED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017520" y="3291840"/>
            <a:ext cx="960120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3383280" y="3977640"/>
            <a:ext cx="594360" cy="36576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 flipV="1">
            <a:off x="6903720" y="3017520"/>
            <a:ext cx="1371600" cy="411480"/>
          </a:xfrm>
          <a:prstGeom prst="line">
            <a:avLst/>
          </a:prstGeom>
          <a:noFill/>
          <a:ln w="25400">
            <a:solidFill>
              <a:srgbClr val="2E7D4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7040880" y="299923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2E7D4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allow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903720" y="3931920"/>
            <a:ext cx="1371600" cy="59436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7040880" y="431596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deny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XPIA / indirect-injection defence — rarely built in-house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scoped, conditional-access identity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Purview DSPM for AI — one DLP / audit plane across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Human approval for consequential tool actions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“Pause the exact tool call. Approval controls intent; authorization still controls access.”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runs immediately · reject creates zero effects · approve + replay creates exactly one.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 + proposed action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approval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exact name + arguments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Operator decision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identity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Change-control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one-time nonce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approval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approve / reject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tools continue without an approval interruption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Rejected and stale decisions fail closed with zero side effects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Nonce + decision + effect IDs correlate; replay stays exactly once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Agent construction &amp; knowledge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Build agents with governed knowledge, tools and memory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02  Agent Service  ·  03  Microsoft IQ  ·  12  Toolboxes  ·  14  Adaptation  ·  10  Memory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2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245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Foundry Agent Service (prompt and hosted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didn't build a runtime, a vector store and an identity system. You called an API — or handed us a container.”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hosting models — declarative prompt agent + BYO-code hosted agent — both first-class, both with an Entra Agent ID.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 · Prompt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rm-assistant-prompt (config)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17720" y="26974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663440" y="2697480"/>
            <a:ext cx="28803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Service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5176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 · Hosted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rm-assistant-hosted (your code)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4008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8580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File Search RAG + function tool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823960" y="3703320"/>
            <a:ext cx="2743200" cy="658368"/>
          </a:xfrm>
          <a:prstGeom prst="roundRect">
            <a:avLst>
              <a:gd name="adj" fmla="val 11111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869680" y="3703320"/>
            <a:ext cx="2651760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container · Foundry-managed compute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566160" y="4370832"/>
            <a:ext cx="27432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3611880" y="4370832"/>
            <a:ext cx="265176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766560" y="4370832"/>
            <a:ext cx="269748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12280" y="4370832"/>
            <a:ext cx="260604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Portal: chat · logs · versions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8328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H="1">
            <a:off x="7589520" y="3086100"/>
            <a:ext cx="123444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201168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 flipV="1">
            <a:off x="10195560" y="3474720"/>
            <a:ext cx="914" cy="2286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 flipH="1">
            <a:off x="4937760" y="3474720"/>
            <a:ext cx="64008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629400" y="3474720"/>
            <a:ext cx="1463040" cy="8961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Prompt-based: model + instructions + tools; File Search RAG (managed vector 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Hosted: your container on Foundry-managed compute — any framework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Entra Agent ID — governable identity per agent, not a shared IAM role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IQ — the intelligence layer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“Web IQ grounds you in the world. Foundry IQ in your enterprise. Work IQ in how your org operates. Fabric IQ in what your business data means.”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via APIM + Azure AI Search via a Foundry agent — both live, both cited.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client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Bedrock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governed MCP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— LIVE via APIM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Azure AI Search — LIVE enterprise index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— managed KB (NARRATED)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Fabric IQ + Work IQ — NARRATED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APIM subscription key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upstream Web IQ key stays on gateway</a:t>
            </a: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661C5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Basic v2 exception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Web IQ on APIM — authenticated, metered, upstream key retained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AzureAISearchTool — project connection + cited enterprise index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IQ, Fabric IQ and Work IQ — broader narrated layers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360920" y="2139696"/>
            <a:ext cx="397763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661C5"/>
                </a:solidFill>
                <a:latin typeface="Aptos"/>
              </a:rPr>
              <a:t>SOLID = LIVE    ·    DASHED = NARRATED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Centralized Toolboxes (one governed MCP endpoint)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“You don’t wire tools to agents. You run a tool plane — and the agents subscribe.”</a:t>
            </a:r>
            <a:endParaRPr kumimoji="0" lang="en-US" sz="1450" b="1" i="1" u="none" strike="noStrike" kern="1200" cap="none" spc="0" normalizeH="0" baseline="0" noProof="0" dirty="0">
              <a:ln>
                <a:noFill/>
              </a:ln>
              <a:solidFill>
                <a:srgbClr val="8661C5"/>
              </a:solidFill>
              <a:effectLst/>
              <a:uLnTx/>
              <a:uFillTx/>
              <a:latin typeface="Segoe UI Semibold" pitchFamily="34" charset="0"/>
              <a:ea typeface="+mn-ea"/>
              <a:cs typeface="Segoe UI Semibold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Curate tools once behind one MCP endpoint; promote a version and every agent follows — nothing redeployed.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306324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Agents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· Copilot · LangGraph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977640" y="30632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023360" y="306324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Toolbox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MCP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360920" y="243230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406640" y="243230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— incl. APIM Web IQ (Pattern 3)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360920" y="307238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406640" y="307238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Code Interpreter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360920" y="371246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406640" y="371246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+mn-ea"/>
                <a:cs typeface="Segoe UI" pitchFamily="34" charset="-120"/>
              </a:rPr>
              <a:t>Tool search — 4 defs → 2 meta-tools</a:t>
            </a:r>
            <a:endParaRPr kumimoji="0" lang="en-US" sz="115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egoe UI" pitchFamily="34" charset="0"/>
              <a:ea typeface="+mn-ea"/>
              <a:cs typeface="Segoe UI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360920" y="4352544"/>
            <a:ext cx="397764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406640" y="4352544"/>
            <a:ext cx="38862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(preview)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02920" y="4315968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48640" y="4315968"/>
            <a:ext cx="2971800" cy="566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Promote a version → default</a:t>
            </a: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agent redeployed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291840" y="3520440"/>
            <a:ext cx="6858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 flipV="1">
            <a:off x="6492240" y="2715768"/>
            <a:ext cx="868680" cy="6217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6492240" y="3355848"/>
            <a:ext cx="868680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92240" y="3611880"/>
            <a:ext cx="868680" cy="38404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92240" y="3749040"/>
            <a:ext cx="868680" cy="8869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920240" y="3977640"/>
            <a:ext cx="914" cy="33832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2103120" y="402336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endpoint, not N integrations — swap a tool without touching agent code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Credentials held server-side; guardrails applied at the toolbox level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 search — a hundred tools without a hundred tool definitions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872770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Model adaptation (fine-tuning &amp; evaluation)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“Fine-tune stable behavior, not changing knowledge — and prove the gain on untouched data.”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benchmark → reviewed SFT job → identical held-out eval → release gate + cleanup.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never used for training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 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first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SFT job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reviewed JSONL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eval tier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test + cleanup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metrics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behavior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RAG / Search / Foundry IQ remain the path for changing knowledge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Schema, accuracy, adherence, tokens and latency — not training loss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No measured gain or any configured regression means no promotion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Memory (short-term + long-term)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stateless agent meets every client as a stranger. Memory turns transactions into a relationship.”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per-user Memory Store; the RM assistant recalls the client's risk appetite across sessions — remember / forget on command.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542032"/>
            <a:ext cx="2743200" cy="457200"/>
          </a:xfrm>
          <a:prstGeom prst="roundRect">
            <a:avLst>
              <a:gd name="adj" fmla="val 16000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542032"/>
            <a:ext cx="265176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Sessions · devices ·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31520" y="3246120"/>
            <a:ext cx="2606040" cy="841248"/>
          </a:xfrm>
          <a:prstGeom prst="roundRect">
            <a:avLst>
              <a:gd name="adj" fmla="val 8696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240" y="3246120"/>
            <a:ext cx="25146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rm-assistant-memory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3977640" y="2697480"/>
            <a:ext cx="3063240" cy="749808"/>
          </a:xfrm>
          <a:prstGeom prst="roundRect">
            <a:avLst>
              <a:gd name="adj" fmla="val 9756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023360" y="2697480"/>
            <a:ext cx="2971800" cy="749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based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In-session recall · short-term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3977640" y="3611880"/>
            <a:ext cx="3063240" cy="841248"/>
          </a:xfrm>
          <a:prstGeom prst="roundRect">
            <a:avLst>
              <a:gd name="adj" fmla="val 869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023360" y="3611880"/>
            <a:ext cx="297180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Memory Store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· cross-session · long-term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818120" y="3246120"/>
            <a:ext cx="3474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863840" y="3246120"/>
            <a:ext cx="3383280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Recalls preferences + history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3977640" y="4572000"/>
            <a:ext cx="3063240" cy="384048"/>
          </a:xfrm>
          <a:prstGeom prst="roundRect">
            <a:avLst>
              <a:gd name="adj" fmla="val 19048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023360" y="4572000"/>
            <a:ext cx="2971800" cy="3840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 = user · TTL · remember / forget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2011680" y="2999232"/>
            <a:ext cx="914" cy="24688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3337560" y="3072384"/>
            <a:ext cx="640080" cy="44805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3337560" y="3749040"/>
            <a:ext cx="64008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040880" y="310896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V="1">
            <a:off x="7040880" y="3749040"/>
            <a:ext cx="777240" cy="27432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504688" y="4453128"/>
            <a:ext cx="914" cy="11887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Two memory types, short-term (session) + long-term (store)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Per-user scope + TTL — isolation and retention by policy, not by hand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Continuity across sessions, devices and workflows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Orchestration &amp; interoperability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Compose skills, specialists and cross-cloud systems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04  Agentic Loop   ·   05  Multi-agent orchestration   ·   09  Cross-cloud interop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3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25881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Agentic Loop (build skills, not agents)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“Don't orchestrate fifty agents. Give one good loop the right skills — and let it reason.”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Plan / Act / Observe loop, N skills-as-folders; engine swapped to Copilot SDK BYOM.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11887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2344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Reason (Plan)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8463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920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Act — skill / 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CE1F8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capabilities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503920" y="3154680"/>
            <a:ext cx="246888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549640" y="3154680"/>
            <a:ext cx="237744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Observe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846320" y="2487168"/>
            <a:ext cx="246888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92040" y="2487168"/>
            <a:ext cx="237744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SKILL.md × N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6576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315200" y="3566160"/>
            <a:ext cx="11887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6080760" y="2990088"/>
            <a:ext cx="914" cy="16459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H="1">
            <a:off x="2423160" y="4160520"/>
            <a:ext cx="7315200" cy="914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97383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2423160" y="3977640"/>
            <a:ext cx="0" cy="182880"/>
          </a:xfrm>
          <a:prstGeom prst="line">
            <a:avLst/>
          </a:prstGeom>
          <a:noFill/>
          <a:ln w="2222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5120640" y="418795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loop back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3383280" y="4485554"/>
            <a:ext cx="5394960" cy="502920"/>
          </a:xfrm>
          <a:prstGeom prst="roundRect">
            <a:avLst>
              <a:gd name="adj" fmla="val 1454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3429000" y="4485554"/>
            <a:ext cx="5303520" cy="502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Engine: Copilot SDK BYOM — your Azure model +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to maintain vs a brittle handoff graph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Skills portable across tools / models; add one in minutes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BYOM — proven Copilot loop, your model + your billing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orchestration (Agent Framework)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“Orchestrate specialists when the problem is genuinely parallel — not because a framework let you.”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 specialists, published as one Foundry-managed Responses endpoint.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56032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46888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Foundry-hosted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663440" y="256032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09160" y="256032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Analyst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63440" y="4069080"/>
            <a:ext cx="3108960" cy="777240"/>
          </a:xfrm>
          <a:prstGeom prst="roundRect">
            <a:avLst>
              <a:gd name="adj" fmla="val 9412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709160" y="4069080"/>
            <a:ext cx="301752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Officer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06840" y="324612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052560" y="3246120"/>
            <a:ext cx="242316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Fan-in result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 flipV="1">
            <a:off x="3291840" y="297180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3291840" y="3840480"/>
            <a:ext cx="137160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772400" y="297180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 flipV="1">
            <a:off x="7772400" y="3840480"/>
            <a:ext cx="1234440" cy="59436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383280" y="299923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concurrent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orchestration (concurrent / sequential / handoff / Magentic)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endpoint · compute · versions · Entra Agent ID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Honest guidance: default to Pattern 4; escalate when earned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09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Cross-cloud interop (MCP / A2A)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“Bedrock runs an agent. Foundry runs the agent factory. MCP and A2A let each cloud do what it's best at.”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 calls an AWS tool over MCP (mock Lambda); A2A hands off to a Bedrock agent.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4709160" cy="2240280"/>
          </a:xfrm>
          <a:prstGeom prst="roundRect">
            <a:avLst>
              <a:gd name="adj" fmla="val 3265"/>
            </a:avLst>
          </a:prstGeom>
          <a:solidFill>
            <a:srgbClr val="F2ECFA"/>
          </a:solidFill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27249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Azure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417320" y="3291840"/>
            <a:ext cx="3154680" cy="914400"/>
          </a:xfrm>
          <a:prstGeom prst="roundRect">
            <a:avLst>
              <a:gd name="adj" fmla="val 8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1463040" y="3291840"/>
            <a:ext cx="30632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812280" y="2606040"/>
            <a:ext cx="4800600" cy="2240280"/>
          </a:xfrm>
          <a:prstGeom prst="roundRect">
            <a:avLst>
              <a:gd name="adj" fmla="val 3265"/>
            </a:avLst>
          </a:prstGeom>
          <a:solidFill>
            <a:srgbClr val="FBF3EB"/>
          </a:solidFill>
          <a:ln w="12700">
            <a:solidFill>
              <a:srgbClr val="D89B6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995160" y="2724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B5732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AWS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635240" y="3063240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680960" y="3063240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AWS tool — Lambda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635240" y="4041648"/>
            <a:ext cx="3566160" cy="685800"/>
          </a:xfrm>
          <a:prstGeom prst="roundRect">
            <a:avLst>
              <a:gd name="adj" fmla="val 10667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7680960" y="4041648"/>
            <a:ext cx="347472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440680" y="3429000"/>
            <a:ext cx="1417320" cy="640080"/>
          </a:xfrm>
          <a:prstGeom prst="roundRect">
            <a:avLst>
              <a:gd name="adj" fmla="val 1142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486400" y="3429000"/>
            <a:ext cx="1325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MCP / A2A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0" y="3749040"/>
            <a:ext cx="8686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 flipV="1">
            <a:off x="6858000" y="3401568"/>
            <a:ext cx="777240" cy="21031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858000" y="3931920"/>
            <a:ext cx="77724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720840" y="4114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Wrap, don't rewrite — call AWS tools from Foundry via MCP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A2A hand-off exposes Foundry agents to Bedrock and 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 overlay (Entra + Purview) spans both clouds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160520" y="822960"/>
            <a:ext cx="306141" cy="306141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12747" y="822960"/>
            <a:ext cx="306141" cy="306141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160520" y="1175187"/>
            <a:ext cx="306141" cy="306141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12747" y="1175187"/>
            <a:ext cx="306141" cy="306141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28616" y="768096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900" b="0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Lifecycle, assurance &amp; operations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Evaluate, observe and optimize every release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07  Evaluation   ·   06  Observability   ·   11  Cost   ·   15  Lifecycle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480560" y="4800600"/>
            <a:ext cx="3227832" cy="0"/>
          </a:xfrm>
          <a:prstGeom prst="line">
            <a:avLst/>
          </a:prstGeom>
          <a:noFill/>
          <a:ln w="1905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57200" y="493776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Group 4 of 4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92211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07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Evaluation &amp; release gate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“If you can't score it, you can't ship it safely — and you can't optimize it.”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candidate answers, score in Foundry, fail closed; demo mode plants one regression.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2880360"/>
            <a:ext cx="25146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2880360"/>
            <a:ext cx="242316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Golden set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+ policy context</a:t>
            </a:r>
          </a:p>
        </p:txBody>
      </p:sp>
      <p:sp>
        <p:nvSpPr>
          <p:cNvPr id="16" name="Shape 14"/>
          <p:cNvSpPr/>
          <p:nvPr/>
        </p:nvSpPr>
        <p:spPr>
          <a:xfrm>
            <a:off x="3520440" y="2971800"/>
            <a:ext cx="1783080" cy="640080"/>
          </a:xfrm>
          <a:prstGeom prst="roundRect">
            <a:avLst>
              <a:gd name="adj" fmla="val 11429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566160" y="2971800"/>
            <a:ext cx="169164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+ model</a:t>
            </a:r>
          </a:p>
        </p:txBody>
      </p:sp>
      <p:sp>
        <p:nvSpPr>
          <p:cNvPr id="18" name="Shape 16"/>
          <p:cNvSpPr/>
          <p:nvPr/>
        </p:nvSpPr>
        <p:spPr>
          <a:xfrm>
            <a:off x="5669280" y="2880360"/>
            <a:ext cx="2788920" cy="822960"/>
          </a:xfrm>
          <a:prstGeom prst="roundRect">
            <a:avLst>
              <a:gd name="adj" fmla="val 8889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715000" y="2880360"/>
            <a:ext cx="26974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Evaluators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groundedness · relevance · coherence</a:t>
            </a:r>
          </a:p>
        </p:txBody>
      </p:sp>
      <p:sp>
        <p:nvSpPr>
          <p:cNvPr id="20" name="Shape 18"/>
          <p:cNvSpPr/>
          <p:nvPr/>
        </p:nvSpPr>
        <p:spPr>
          <a:xfrm>
            <a:off x="8869680" y="297180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15400" y="2971800"/>
            <a:ext cx="256032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CI gate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5468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303520" y="3291840"/>
            <a:ext cx="36576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291840"/>
            <a:ext cx="41148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669280" y="4114800"/>
            <a:ext cx="2788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715000" y="4114800"/>
            <a:ext cx="26974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Evaluations tab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59168" y="3703320"/>
            <a:ext cx="914" cy="41148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869680" y="4114800"/>
            <a:ext cx="2651760" cy="731520"/>
          </a:xfrm>
          <a:prstGeom prst="roundRect">
            <a:avLst>
              <a:gd name="adj" fmla="val 10000"/>
            </a:avLst>
          </a:prstGeom>
          <a:solidFill>
            <a:srgbClr val="FBE0DC"/>
          </a:solidFill>
          <a:ln w="15875">
            <a:solidFill>
              <a:srgbClr val="E5988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915400" y="4114800"/>
            <a:ext cx="25603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C42B1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 → blocks merge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10195560" y="3611880"/>
            <a:ext cx="914" cy="502920"/>
          </a:xfrm>
          <a:prstGeom prst="line">
            <a:avLst/>
          </a:prstGeom>
          <a:noFill/>
          <a:ln w="25400">
            <a:solidFill>
              <a:srgbClr val="C42B1C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Agent-grade evaluators (groundedness, tool-call, intent)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Candidate answers are generated before cloud evaluation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Scoped CI gate — relevant regressions can't merge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Observability &amp; tracing (OpenTelemetry)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“A real Foundry agent, then one traced turn — same run in the portal AND App Insights. And it's OTel, so it's yours.”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Metadata-only OTel trace in Foundry + App Insights; content requires explicit opt-in.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85800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31520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C7C9C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rm-assistant-traced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401568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447288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invoke_agent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117336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163056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Tool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833104" y="2487168"/>
            <a:ext cx="2450592" cy="658368"/>
          </a:xfrm>
          <a:prstGeom prst="roundRect">
            <a:avLst>
              <a:gd name="adj" fmla="val 11111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78824" y="2487168"/>
            <a:ext cx="2359152" cy="6583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136392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852160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567928" y="2816352"/>
            <a:ext cx="265176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456432"/>
            <a:ext cx="4297680" cy="713232"/>
          </a:xfrm>
          <a:prstGeom prst="roundRect">
            <a:avLst>
              <a:gd name="adj" fmla="val 10256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977640" y="3456432"/>
            <a:ext cx="420624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spans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metadata only · tokens · latency</a:t>
            </a:r>
          </a:p>
        </p:txBody>
      </p:sp>
      <p:sp>
        <p:nvSpPr>
          <p:cNvPr id="27" name="Shape 25"/>
          <p:cNvSpPr/>
          <p:nvPr/>
        </p:nvSpPr>
        <p:spPr>
          <a:xfrm>
            <a:off x="4626864" y="3145536"/>
            <a:ext cx="859536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 flipH="1">
            <a:off x="6309360" y="3145536"/>
            <a:ext cx="411480" cy="310896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85800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731520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— Agents + Tracing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453128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498848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Application Insights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220456" y="4169664"/>
            <a:ext cx="3291840" cy="640080"/>
          </a:xfrm>
          <a:prstGeom prst="roundRect">
            <a:avLst>
              <a:gd name="adj" fmla="val 11429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8266176" y="4169664"/>
            <a:ext cx="320040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Datadog / Grafana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 flipH="1">
            <a:off x="2331720" y="3968496"/>
            <a:ext cx="2971800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6080760" y="3968496"/>
            <a:ext cx="18288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6858000" y="3968496"/>
            <a:ext cx="3008376" cy="201168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Agent shows in the Agents list; run traced server-side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Text 42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+ latency telemetry · rate-card cost by agent/version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OpenTelemetry — portable to Datadog / Grafana, no lock-in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Text 48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Cost &amp; latency (prompt cache + Model Router)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“The cheapest, fastest token is the one you never send to the model twice.”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Same long prompt twice → the 2nd call is a prompt-cache hit; Model Router downshifts a trivial prompt; token metrics in App Insights.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3246120"/>
            <a:ext cx="1920240" cy="731520"/>
          </a:xfrm>
          <a:prstGeom prst="roundRect">
            <a:avLst>
              <a:gd name="adj" fmla="val 10000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85800" y="3246120"/>
            <a:ext cx="182880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Request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063240" y="3154680"/>
            <a:ext cx="269748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108960" y="3154680"/>
            <a:ext cx="2606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Azure AI Gateway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E4F3F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· hit / miss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8661C5"/>
          </a:solidFill>
          <a:ln w="1270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09360" y="3246120"/>
            <a:ext cx="210312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915400" y="31546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961120" y="3154680"/>
            <a:ext cx="25146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 · cached input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25603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5760720" y="3611880"/>
            <a:ext cx="5029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458200" y="3611880"/>
            <a:ext cx="45720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46888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51460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cache: up to 100% off input (PTU)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675120" y="437083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ECEBF3"/>
          </a:solidFill>
          <a:ln w="12700">
            <a:solidFill>
              <a:srgbClr val="E5E1EF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6720840" y="4370832"/>
            <a:ext cx="3931920" cy="475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Token metrics + budgets → App Insights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389120" y="4069080"/>
            <a:ext cx="914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 flipH="1">
            <a:off x="8686800" y="4069080"/>
            <a:ext cx="1508760" cy="301752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Prompt caching — cached input tokens discounted, up to 100% off on Provisioned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Semantic cache at the gateway — serve equivalent prompts with no model call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Model Router + PTU — cost-aware model choice per prompt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 40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48672" y="384048"/>
            <a:ext cx="102047" cy="102047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10066081" y="384048"/>
            <a:ext cx="102047" cy="102047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948672" y="501457"/>
            <a:ext cx="102047" cy="102047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66081" y="501457"/>
            <a:ext cx="102047" cy="102047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277856" y="3291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566928" y="256032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6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15</a:t>
            </a:r>
            <a:endParaRPr kumimoji="0" lang="en-US" sz="4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03504" y="1088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20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PATTERN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874520" y="365760"/>
            <a:ext cx="77724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Agent lifecycle &amp; promotion (dev → test → prod)</a:t>
            </a:r>
            <a:endParaRPr kumimoji="0" 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1371600"/>
            <a:ext cx="11064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1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“Promote immutable versions behind one endpoint; roll back the selector, not the state.”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2048256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107C41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204825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17904" y="204825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Failing candidate blocked · passing candidate pinned · same URL · rollback restores v1 + state.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31520" y="3246120"/>
            <a:ext cx="2651760" cy="914400"/>
          </a:xfrm>
          <a:prstGeom prst="roundRect">
            <a:avLst>
              <a:gd name="adj" fmla="val 8000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7724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Release manifest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commit + aliases</a:t>
            </a:r>
          </a:p>
        </p:txBody>
      </p:sp>
      <p:sp>
        <p:nvSpPr>
          <p:cNvPr id="16" name="Shape 14"/>
          <p:cNvSpPr/>
          <p:nvPr/>
        </p:nvSpPr>
        <p:spPr>
          <a:xfrm>
            <a:off x="4343400" y="320040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091F2C"/>
          </a:solidFill>
          <a:ln w="12700">
            <a:solidFill>
              <a:srgbClr val="091F2C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389120" y="3200400"/>
            <a:ext cx="2651760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Dev → test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smoke + cloud eval</a:t>
            </a:r>
          </a:p>
        </p:txBody>
      </p:sp>
      <p:sp>
        <p:nvSpPr>
          <p:cNvPr id="18" name="Shape 16"/>
          <p:cNvSpPr/>
          <p:nvPr/>
        </p:nvSpPr>
        <p:spPr>
          <a:xfrm>
            <a:off x="8823960" y="269748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8661C5"/>
            </a:solidFill>
            <a:prstDash val="solid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869680" y="269748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candidate</a:t>
            </a:r>
          </a:p>
        </p:txBody>
      </p:sp>
      <p:sp>
        <p:nvSpPr>
          <p:cNvPr id="20" name="Shape 18"/>
          <p:cNvSpPr/>
          <p:nvPr/>
        </p:nvSpPr>
        <p:spPr>
          <a:xfrm>
            <a:off x="8823960" y="4114800"/>
            <a:ext cx="2697480" cy="777240"/>
          </a:xfrm>
          <a:prstGeom prst="roundRect">
            <a:avLst>
              <a:gd name="adj" fmla="val 9412"/>
            </a:avLst>
          </a:prstGeom>
          <a:solidFill>
            <a:srgbClr val="FBF4EE"/>
          </a:solidFill>
          <a:ln w="15875">
            <a:solidFill>
              <a:srgbClr val="D89B6A"/>
            </a:solidFill>
            <a:prstDash val="dash"/>
          </a:ln>
          <a:effectLst>
            <a:outerShdw blurRad="76200" dist="25400" dir="8100000" algn="bl" rotWithShape="0">
              <a:srgbClr val="8A8886">
                <a:alpha val="2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869680" y="4114800"/>
            <a:ext cx="260604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Rollback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selector → prior</a:t>
            </a:r>
          </a:p>
        </p:txBody>
      </p:sp>
      <p:sp>
        <p:nvSpPr>
          <p:cNvPr id="22" name="Shape 20"/>
          <p:cNvSpPr/>
          <p:nvPr/>
        </p:nvSpPr>
        <p:spPr>
          <a:xfrm>
            <a:off x="3383280" y="3703320"/>
            <a:ext cx="960120" cy="914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401568" y="3136392"/>
            <a:ext cx="877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immutable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version</a:t>
            </a:r>
          </a:p>
        </p:txBody>
      </p:sp>
      <p:sp>
        <p:nvSpPr>
          <p:cNvPr id="24" name="Shape 22"/>
          <p:cNvSpPr/>
          <p:nvPr/>
        </p:nvSpPr>
        <p:spPr>
          <a:xfrm flipV="1">
            <a:off x="7086600" y="3108960"/>
            <a:ext cx="1737360" cy="457200"/>
          </a:xfrm>
          <a:prstGeom prst="line">
            <a:avLst/>
          </a:prstGeom>
          <a:noFill/>
          <a:ln w="22225">
            <a:solidFill>
              <a:srgbClr val="8A888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269480" y="3035808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1" u="none" strike="noStrike" kern="1200" cap="none" spc="0" normalizeH="0" baseline="0" noProof="0" dirty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eval evidence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7086600" y="3840480"/>
            <a:ext cx="1737360" cy="640080"/>
          </a:xfrm>
          <a:prstGeom prst="line">
            <a:avLst/>
          </a:prstGeom>
          <a:noFill/>
          <a:ln w="22225">
            <a:solidFill>
              <a:srgbClr val="8A8886"/>
            </a:solidFill>
            <a:prstDash val="dash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566928" y="504748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1" i="0" u="none" strike="noStrike" kern="0" cap="none" spc="15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FOUNDRY GIVES YOU HERE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48640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749808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50976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Current agent object model — no new legacy Agent Application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4325112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4526280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727448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Stable endpoint URL does not change across promotion or rollback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101584" y="5340096"/>
            <a:ext cx="3538728" cy="932688"/>
          </a:xfrm>
          <a:prstGeom prst="roundRect">
            <a:avLst>
              <a:gd name="adj" fmla="val 5882"/>
            </a:avLst>
          </a:prstGeom>
          <a:solidFill>
            <a:srgbClr val="F3F1F8"/>
          </a:solidFill>
          <a:ln w="12700">
            <a:solidFill>
              <a:srgbClr val="E5E1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302752" y="5650992"/>
            <a:ext cx="109728" cy="109728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503920" y="5340096"/>
            <a:ext cx="2971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OIDC + complete release record; conversation store is not deleted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566928" y="6400800"/>
            <a:ext cx="11064240" cy="0"/>
          </a:xfrm>
          <a:prstGeom prst="line">
            <a:avLst/>
          </a:prstGeom>
          <a:noFill/>
          <a:ln w="12700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566928" y="6455664"/>
            <a:ext cx="9601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Patterns  ·  subject to change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11155680" y="64556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5C6B9A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8661C5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66928" y="365760"/>
            <a:ext cx="119055" cy="119055"/>
          </a:xfrm>
          <a:prstGeom prst="rect">
            <a:avLst/>
          </a:prstGeom>
          <a:solidFill>
            <a:srgbClr val="F25022"/>
          </a:solidFill>
          <a:ln w="6350">
            <a:solidFill>
              <a:srgbClr val="F2502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03905" y="365760"/>
            <a:ext cx="119055" cy="119055"/>
          </a:xfrm>
          <a:prstGeom prst="rect">
            <a:avLst/>
          </a:prstGeom>
          <a:solidFill>
            <a:srgbClr val="7FBA00"/>
          </a:solidFill>
          <a:ln w="6350">
            <a:solidFill>
              <a:srgbClr val="7FBA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66928" y="502737"/>
            <a:ext cx="119055" cy="119055"/>
          </a:xfrm>
          <a:prstGeom prst="rect">
            <a:avLst/>
          </a:prstGeom>
          <a:solidFill>
            <a:srgbClr val="00A4EF"/>
          </a:solidFill>
          <a:ln w="6350">
            <a:solidFill>
              <a:srgbClr val="00A4E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03905" y="502737"/>
            <a:ext cx="119055" cy="119055"/>
          </a:xfrm>
          <a:prstGeom prst="rect">
            <a:avLst/>
          </a:prstGeom>
          <a:solidFill>
            <a:srgbClr val="FFB900"/>
          </a:solidFill>
          <a:ln w="6350">
            <a:solidFill>
              <a:srgbClr val="FFB9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2688" y="310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5B5B5B"/>
                </a:solidFill>
                <a:effectLst/>
                <a:uLnTx/>
                <a:uFillTx/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Foundry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9601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Coexistence — and the close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566928" y="228600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Your other cloud runs an agent. Foundry runs the agent FACTORY. MCP + A2A join the two.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Keep your existing stack where it works · add Foundry where you have gaps (identity, eval, tracing, grounding, safety) · unify governance with Purview and Agent 365 across your estate.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66928" y="393192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8661C5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 +  AI Gateway  +  Agentic Patterns.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Platform. Governance at scale. The fastest path to business value.</a:t>
            </a:r>
            <a:endParaRPr kumimoji="0" lang="en-US" sz="2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66928" y="5943600"/>
            <a:ext cx="7863840" cy="0"/>
          </a:xfrm>
          <a:prstGeom prst="line">
            <a:avLst/>
          </a:prstGeom>
          <a:noFill/>
          <a:ln w="15875">
            <a:solidFill>
              <a:srgbClr val="8661C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ZA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566928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>
                <a:ln>
                  <a:noFill/>
                </a:ln>
                <a:solidFill>
                  <a:srgbClr val="605E5C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Foundry pattern library  ·  github.com/SridharArrabelly/foundry-pattern-library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66928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AA0A6"/>
                </a:solidFill>
                <a:effectLst/>
                <a:uLnTx/>
                <a:uFillTx/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2303</Words>
  <Application>Microsoft Office PowerPoint</Application>
  <PresentationFormat>Widescreen</PresentationFormat>
  <Paragraphs>392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8" baseType="lpstr">
      <vt:lpstr>Aptos</vt:lpstr>
      <vt:lpstr>Arial</vt:lpstr>
      <vt:lpstr>Calibri</vt:lpstr>
      <vt:lpstr>Segoe UI</vt:lpstr>
      <vt:lpstr>Segoe UI Semibold</vt:lpstr>
      <vt:lpstr>Segoe UI Semilight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Sridhar Arrabelly</dc:creator>
  <cp:lastModifiedBy>Sridhar Arrabelly</cp:lastModifiedBy>
  <cp:revision>1</cp:revision>
  <dcterms:created xsi:type="dcterms:W3CDTF">2026-08-23T09:51:01Z</dcterms:created>
  <dcterms:modified xsi:type="dcterms:W3CDTF">2026-08-23T09:51:32Z</dcterms:modified>
</cp:coreProperties>
</file>