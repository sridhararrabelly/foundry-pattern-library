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56032" cy="155448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 i="0">
                <a:solidFill>
                  <a:srgbClr val="FFFFFF"/>
                </a:solidFill>
                <a:latin typeface="Segoe UI"/>
              </a:rPr>
              <a:t>From AI Gateway to AI Factory</a:t>
            </a:r>
          </a:p>
          <a:p>
            <a:r>
              <a:rPr sz="2200" b="0" i="0">
                <a:solidFill>
                  <a:srgbClr val="C8C6C4"/>
                </a:solidFill>
                <a:latin typeface="Segoe UI"/>
              </a:rPr>
              <a:t>Nine Microsoft Foundry patterns — alongside AWS + your gateway</a:t>
            </a:r>
          </a:p>
          <a:p>
            <a:r>
              <a:rPr sz="1600" b="1" i="0">
                <a:solidFill>
                  <a:srgbClr val="0F6CBD"/>
                </a:solidFill>
                <a:latin typeface="Segoe UI"/>
              </a:rPr>
              <a:t>A Private Banking scenario  ·  Build in GitHub → Run in Foundry → Reach in M365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Segoe UI"/>
              </a:rPr>
              <a:t>The wedge: keep your gateway, keep AWS — add the factory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 i="0">
                <a:solidFill>
                  <a:srgbClr val="201F1E"/>
                </a:solidFill>
                <a:latin typeface="Segoe UI"/>
              </a:rPr>
              <a:t>A gateway gives you MODEL ACCESS.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605E5C"/>
                </a:solidFill>
                <a:latin typeface="Segoe UI"/>
              </a:rPr>
              <a:t>Your LiteLLM gateway (or Azure API Management) is the right pattern for that — one OpenAI-compatible endpoint, keys, budgets, routing across providers incl. Bedrock.</a:t>
            </a:r>
          </a:p>
          <a:p>
            <a:pPr>
              <a:spcAft>
                <a:spcPts val="800"/>
              </a:spcAft>
            </a:pPr>
            <a:r>
              <a:rPr sz="1900" b="1" i="0">
                <a:solidFill>
                  <a:srgbClr val="201F1E"/>
                </a:solidFill>
                <a:latin typeface="Segoe UI"/>
              </a:rPr>
              <a:t>Foundry gives you the AGENT FACTORY.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605E5C"/>
                </a:solidFill>
                <a:latin typeface="Segoe UI"/>
              </a:rPr>
              <a:t>The runtime (Plan/Act/Observe), grounding (Microsoft IQ), identity, evaluation, tracing and safety plane AROUND the models — exactly the depth a homegrown factory lacks.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754880"/>
            <a:ext cx="3291840" cy="100584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Your gateway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LiteLLM / APIM — model access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4572000"/>
            <a:ext cx="6400800" cy="13716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Foundry — the agent factory</a:t>
            </a:r>
          </a:p>
          <a:p>
            <a:pPr algn="ctr"/>
            <a:r>
              <a:rPr sz="850" b="0" i="1">
                <a:solidFill>
                  <a:srgbClr val="0F6CBD"/>
                </a:solidFill>
                <a:latin typeface="Segoe UI"/>
              </a:rPr>
              <a:t>runtime · Microsoft IQ · identity · eval · tracing · safety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206240" y="5257800"/>
            <a:ext cx="914400" cy="0"/>
          </a:xfrm>
          <a:prstGeom prst="line">
            <a:avLst/>
          </a:prstGeom>
          <a:ln w="28575">
            <a:solidFill>
              <a:srgbClr val="0F6CB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977640" y="510235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add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Segoe UI"/>
              </a:rPr>
              <a:t>Run-of-show — four groups, 60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0F6CBD"/>
                </a:solidFill>
                <a:latin typeface="Segoe UI"/>
              </a:rPr>
              <a:t>CONTROL PLANE — make the gateway the single front door</a:t>
            </a:r>
          </a:p>
          <a:p>
            <a:pPr>
              <a:spcAft>
                <a:spcPts val="1600"/>
              </a:spcAft>
            </a:pPr>
            <a:r>
              <a:rPr sz="1700" b="0" i="0">
                <a:solidFill>
                  <a:srgbClr val="201F1E"/>
                </a:solidFill>
                <a:latin typeface="Segoe UI"/>
              </a:rPr>
              <a:t>     1  Wedge → AI Hub Gateway / Citadel  (0–5)      ·      8  Governance / Prompt Shields  (41–50)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0F6CBD"/>
                </a:solidFill>
                <a:latin typeface="Segoe UI"/>
              </a:rPr>
              <a:t>AGENT FACTORY — build the agent</a:t>
            </a:r>
          </a:p>
          <a:p>
            <a:pPr>
              <a:spcAft>
                <a:spcPts val="1600"/>
              </a:spcAft>
            </a:pPr>
            <a:r>
              <a:rPr sz="1700" b="0" i="0">
                <a:solidFill>
                  <a:srgbClr val="201F1E"/>
                </a:solidFill>
                <a:latin typeface="Segoe UI"/>
              </a:rPr>
              <a:t>     2  Agent Service  (5–10)      ·      3  Microsoft IQ  (10–15)      ·      4  Agentic Loop  (15–20)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0F6CBD"/>
                </a:solidFill>
                <a:latin typeface="Segoe UI"/>
              </a:rPr>
              <a:t>ORCHESTRATION &amp; INTEROP — make agents work together</a:t>
            </a:r>
          </a:p>
          <a:p>
            <a:pPr>
              <a:spcAft>
                <a:spcPts val="1600"/>
              </a:spcAft>
            </a:pPr>
            <a:r>
              <a:rPr sz="1700" b="0" i="0">
                <a:solidFill>
                  <a:srgbClr val="201F1E"/>
                </a:solidFill>
                <a:latin typeface="Segoe UI"/>
              </a:rPr>
              <a:t>     5  Multi-agent (Agent Framework)  (20–25)      ·      9  AWS cross-cloud, MCP / A2A  (50–60)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0F6CBD"/>
                </a:solidFill>
                <a:latin typeface="Segoe UI"/>
              </a:rPr>
              <a:t>OPERATE &amp; OPTIMISE — run it in production</a:t>
            </a:r>
          </a:p>
          <a:p>
            <a:pPr>
              <a:spcAft>
                <a:spcPts val="1600"/>
              </a:spcAft>
            </a:pPr>
            <a:r>
              <a:rPr sz="1700" b="0" i="0">
                <a:solidFill>
                  <a:srgbClr val="201F1E"/>
                </a:solidFill>
                <a:latin typeface="Segoe UI"/>
              </a:rPr>
              <a:t>     6  Observability &amp; tracing  (25–33)      ·      7  Evaluation → optimization  (33–41)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The Wedge → AI Hub Gateway / Citadel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“The gateway gives you model access. Foundry gives you the agent factory.”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One OpenAI-shaped call, keyless via Entra ID — 401 without a token, 200 with.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063240"/>
            <a:ext cx="2011680" cy="91440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Your app / agent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no API key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80" y="2971800"/>
            <a:ext cx="2468880" cy="109728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Azure AI Gateway (APIM)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validate-azure-ad-token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52560" y="2468880"/>
            <a:ext cx="2651760" cy="8229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Foundry model</a:t>
            </a:r>
          </a:p>
          <a:p>
            <a:pPr algn="ctr"/>
            <a:r>
              <a:rPr sz="850" b="0" i="1">
                <a:solidFill>
                  <a:srgbClr val="0F6CBD"/>
                </a:solidFill>
                <a:latin typeface="Segoe UI"/>
              </a:rPr>
              <a:t>gpt-5.4-mini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4114800"/>
            <a:ext cx="2651760" cy="822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3B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605E5C"/>
                </a:solidFill>
                <a:latin typeface="Segoe UI"/>
              </a:rPr>
              <a:t>AWS Bedrock</a:t>
            </a:r>
          </a:p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existing provider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97680" y="3520440"/>
            <a:ext cx="914400" cy="0"/>
          </a:xfrm>
          <a:prstGeom prst="line">
            <a:avLst/>
          </a:prstGeom>
          <a:ln w="22225">
            <a:solidFill>
              <a:srgbClr val="0F6CB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69080" y="336499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Entra ID token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7680960" y="2880360"/>
            <a:ext cx="1371600" cy="6400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80960" y="304495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managed identity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80960" y="3520440"/>
            <a:ext cx="1371600" cy="1005840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Their LiteLLM gateway stays — zero rip-and-replace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Reframes gateway as commodity; factory as the differentiation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Ships as AI Hub Gateway / Citadel (Foundry + APIM)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Agent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“You didn't build a runtime, a vector store and an identity system. You called an API — or handed us a container.”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Two hosting models — declarative prompt agent + BYO-code hosted agent — both first-class, both with an Entra Agent 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194560"/>
            <a:ext cx="3200400" cy="91440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 · Prompt agent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rm-assistant-prompt (config)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429000"/>
            <a:ext cx="3200400" cy="73152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File Search RAG + function tool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2194560"/>
            <a:ext cx="3200400" cy="91440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B · Hosted agent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rm-assistant-hosted (your code)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3429000"/>
            <a:ext cx="3200400" cy="73152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Your container · Foundry-managed compute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2286000"/>
            <a:ext cx="2971800" cy="86868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Foundry Agent Service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3240" y="4251960"/>
            <a:ext cx="2743200" cy="749808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Entra Agent ID — governed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4251960"/>
            <a:ext cx="3063240" cy="749808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Portal: chat · logs · versions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514600" y="3108960"/>
            <a:ext cx="0" cy="3200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9692640" y="3108960"/>
            <a:ext cx="0" cy="3200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114800" y="2651760"/>
            <a:ext cx="502920" cy="685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7589520" y="2651760"/>
            <a:ext cx="502920" cy="685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4434840" y="3154680"/>
            <a:ext cx="1668780" cy="10972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103620" y="3154680"/>
            <a:ext cx="1783080" cy="10972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Prompt-based: model + instructions + tools; File Search RAG (managed vector store)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Hosted: your container on Foundry-managed compute — any framework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Entra Agent ID — governable identity per agent, not a shared IAM role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Microsoft IQ — Web IQ + Foundry IQ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“Web IQ grounds you in the world. Foundry IQ grounds you in your enterprise.”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Web IQ published as OUR OWN MCP API on APIM — no key, 401; valid key, 200; past the limit, 429.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4343400"/>
            <a:ext cx="292608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3B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605E5C"/>
                </a:solidFill>
                <a:latin typeface="Segoe UI"/>
              </a:rPr>
              <a:t>APIM secret: webiq-api-key</a:t>
            </a:r>
          </a:p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injected inbound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3017520"/>
            <a:ext cx="2194560" cy="86868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MCP client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Foundry · Copilot · Bedrock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3017520"/>
            <a:ext cx="1828800" cy="86868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APIM MCP API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authN · quota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2194560"/>
            <a:ext cx="3657600" cy="73152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Web IQ (MCP) — cited web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3154680"/>
            <a:ext cx="3657600" cy="73152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Foundry IQ — Azure AI Search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4114800"/>
            <a:ext cx="3657600" cy="7315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3B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605E5C"/>
                </a:solidFill>
                <a:latin typeface="Segoe UI"/>
              </a:rPr>
              <a:t>Work IQ — M365 org context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480560" y="3451860"/>
            <a:ext cx="36576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977640" y="329641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sub key only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675120" y="2560320"/>
            <a:ext cx="640080" cy="8915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675120" y="3451860"/>
            <a:ext cx="640080" cy="685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675120" y="3451860"/>
            <a:ext cx="640080" cy="1028700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 flipV="1">
            <a:off x="5760720" y="3886200"/>
            <a:ext cx="274320" cy="457200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Tool calls governed like model calls — same gateway, same control point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Key custody sits in the gateway — no Web IQ credential client-side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Org context (Work IQ / M365) — a moat AWS can't match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Agentic Loop — Build Skills, Not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“Don't orchestrate fifty agents. Give one good loop the right skills — and let it reason.”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One Plan/Act/Observe loop, N skills-as-folders; engine swapped to Copilot SDK BYOM.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2103120"/>
            <a:ext cx="2377440" cy="77724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Reason (Plan)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3108960"/>
            <a:ext cx="2377440" cy="77724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Act — skill / tool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37760" y="4160520"/>
            <a:ext cx="2377440" cy="77724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Observe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2697480"/>
            <a:ext cx="2194560" cy="73152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SKILL.md ×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4069080"/>
            <a:ext cx="2194560" cy="9144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Engine: Copilot SDK BYOM</a:t>
            </a:r>
          </a:p>
          <a:p>
            <a:pPr algn="ctr"/>
            <a:r>
              <a:rPr sz="850" b="0" i="1">
                <a:solidFill>
                  <a:srgbClr val="0F6CBD"/>
                </a:solidFill>
                <a:latin typeface="Segoe UI"/>
              </a:rPr>
              <a:t>your Azure model + billing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0" y="2491740"/>
            <a:ext cx="1828799" cy="61722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7315200" y="3886200"/>
            <a:ext cx="1828799" cy="6629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937760" y="2880360"/>
            <a:ext cx="1188720" cy="16687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480560" y="3063240"/>
            <a:ext cx="3474719" cy="4343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532119" y="312496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capabilities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480560" y="4526280"/>
            <a:ext cx="457200" cy="22860"/>
          </a:xfrm>
          <a:prstGeom prst="line">
            <a:avLst/>
          </a:prstGeom>
          <a:ln w="22225">
            <a:solidFill>
              <a:srgbClr val="0F6CBD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One loop to maintain vs a brittle handoff graph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Skills portable across tools/models; add one in minutes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BYOM — proven Copilot loop, your model + your billing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Multi-agent Orchestration (Agent Framework)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“Orchestrate specialists when the problem is genuinely parallel — not because a framework let you.”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Request fans out to two specialists concurrently; Compliance returns BLOCK, then aggregate.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063240"/>
            <a:ext cx="2103120" cy="86868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Orchestrator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2194560"/>
            <a:ext cx="2743200" cy="77724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Portfolio Analyst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4114800"/>
            <a:ext cx="2743200" cy="77724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Compliance Officer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35440" y="3063240"/>
            <a:ext cx="2286000" cy="86868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Aggregate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4389120" y="2583180"/>
            <a:ext cx="1188720" cy="914400"/>
          </a:xfrm>
          <a:prstGeom prst="line">
            <a:avLst/>
          </a:prstGeom>
          <a:ln w="22225">
            <a:solidFill>
              <a:srgbClr val="0F6CB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297680" y="288493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concurrent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389120" y="3497580"/>
            <a:ext cx="1188720" cy="10058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321040" y="2583180"/>
            <a:ext cx="914400" cy="91440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8321040" y="3497580"/>
            <a:ext cx="914400" cy="10058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Managed orchestration (concurrent/sequential/handoff/Magentic)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Open, code-first (SK/AutoGen lineage), model-portable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Honest guidance: default to Pattern 4; escalate when earned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Observability &amp; Tracing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“A real Foundry agent, then one traced turn — same run in the portal AND App Insights. And it's OTel, so it's yours.”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Run enable_tracing.py — agent 'rm-assistant-traced' + its trace in BOTH Foundry Tracing and App Insights.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2103120"/>
            <a:ext cx="2011680" cy="68580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Foundry agent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rm-assistant-traced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103120"/>
            <a:ext cx="2011680" cy="68580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invoke_agent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103120"/>
            <a:ext cx="2011680" cy="68580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Tool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2103120"/>
            <a:ext cx="2011680" cy="68580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Model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97680" y="2446020"/>
            <a:ext cx="27432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583680" y="2446020"/>
            <a:ext cx="27432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869680" y="2446020"/>
            <a:ext cx="27432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389120" y="3246120"/>
            <a:ext cx="3840480" cy="82296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OpenTelemetry spans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tokens · latency · cost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4160520"/>
            <a:ext cx="2743200" cy="6858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Foundry — Agents + Tracing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49240" y="4160520"/>
            <a:ext cx="2743200" cy="6858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Application Insights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160520"/>
            <a:ext cx="2743200" cy="6858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3B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605E5C"/>
                </a:solidFill>
                <a:latin typeface="Segoe UI"/>
              </a:rPr>
              <a:t>Datadog / Grafana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77840" y="2788920"/>
            <a:ext cx="731520" cy="45720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309360" y="2788920"/>
            <a:ext cx="1554480" cy="45720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3657600" y="4069080"/>
            <a:ext cx="2651760" cy="914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309360" y="4069080"/>
            <a:ext cx="411480" cy="914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309360" y="4069080"/>
            <a:ext cx="3474720" cy="91440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Agent shows in the Agents list; run traced server-side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Token + cost + latency per span — observability &amp; FinOps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OpenTelemetry — portable to Datadog/Grafana, no lock-in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Evaluation →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“If you can't score it, you can't ship it safely — and you can't optimize it.”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Score the golden set locally AND in Foundry; a wrong 'suitable' tanks groundedness and the CI gate blocks the PR.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017520"/>
            <a:ext cx="2286000" cy="91440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Golden set</a:t>
            </a:r>
          </a:p>
          <a:p>
            <a:pPr algn="ctr"/>
            <a:r>
              <a:rPr sz="850" b="0" i="1">
                <a:solidFill>
                  <a:srgbClr val="201F1E"/>
                </a:solidFill>
                <a:latin typeface="Segoe UI"/>
              </a:rPr>
              <a:t>+ planted wrong row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3063240"/>
            <a:ext cx="1737360" cy="82296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2926080"/>
            <a:ext cx="2468880" cy="109728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Evaluators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groundedness · tool-accuracy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26880" y="3063240"/>
            <a:ext cx="2194560" cy="82296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CI gate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0" y="4206240"/>
            <a:ext cx="2194560" cy="685800"/>
          </a:xfrm>
          <a:prstGeom prst="roundRect">
            <a:avLst/>
          </a:prstGeom>
          <a:solidFill>
            <a:srgbClr val="C5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FAIL → blocks merge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4572000"/>
            <a:ext cx="2468880" cy="685800"/>
          </a:xfrm>
          <a:prstGeom prst="roundRect">
            <a:avLst/>
          </a:prstGeom>
          <a:solidFill>
            <a:srgbClr val="FFFFFF"/>
          </a:solidFill>
          <a:ln w="28575">
            <a:solidFill>
              <a:srgbClr val="0F6C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0F6CBD"/>
                </a:solidFill>
                <a:latin typeface="Segoe UI"/>
              </a:rPr>
              <a:t>Foundry — Evaluations tab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0" y="3474720"/>
            <a:ext cx="18288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92240" y="3474720"/>
            <a:ext cx="18288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144000" y="3474720"/>
            <a:ext cx="18288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424160" y="3886200"/>
            <a:ext cx="0" cy="320040"/>
          </a:xfrm>
          <a:prstGeom prst="line">
            <a:avLst/>
          </a:prstGeom>
          <a:ln w="22225">
            <a:solidFill>
              <a:srgbClr val="C530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09560" y="4023360"/>
            <a:ext cx="0" cy="5486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Agent-grade evaluators (groundedness, tool-call, intent)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Scores locally + uploads to the Foundry Evaluations tab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CI gate on every PR — regressions can't merge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Governance / Prompt Shields / Content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“Your gateway checks tokens. Foundry checks the attack — even the one hidden in a document.”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LIVE + keyless: Prompt Shields blocks a direct jailbreak and a document-hidden XPIA; a clean question passes.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2240280"/>
            <a:ext cx="2468880" cy="77724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User turn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4114800"/>
            <a:ext cx="2468880" cy="77724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Client doc — hidden XPIA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2971800"/>
            <a:ext cx="2743200" cy="109728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Prompt Shields</a:t>
            </a:r>
          </a:p>
          <a:p>
            <a:pPr algn="ctr"/>
            <a:r>
              <a:rPr sz="850" b="0" i="1">
                <a:solidFill>
                  <a:srgbClr val="FFFFFF"/>
                </a:solidFill>
                <a:latin typeface="Segoe UI"/>
              </a:rPr>
              <a:t>jailbreak + indirect (XPIA)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2331720"/>
            <a:ext cx="2743200" cy="77724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Agent → model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4114800"/>
            <a:ext cx="2743200" cy="777240"/>
          </a:xfrm>
          <a:prstGeom prst="roundRect">
            <a:avLst/>
          </a:prstGeom>
          <a:solidFill>
            <a:srgbClr val="C5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BLOCKED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54880" y="2628900"/>
            <a:ext cx="365760" cy="8915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754880" y="3520440"/>
            <a:ext cx="365760" cy="98298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863840" y="2720340"/>
            <a:ext cx="822960" cy="80010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589520" y="296494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allow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63840" y="3520440"/>
            <a:ext cx="822960" cy="982980"/>
          </a:xfrm>
          <a:prstGeom prst="line">
            <a:avLst/>
          </a:prstGeom>
          <a:ln w="22225">
            <a:solidFill>
              <a:srgbClr val="C5301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589520" y="385648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deny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XPIA / indirect-injection defence — rarely built in-house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Entra Agent ID — scoped, conditional-access identity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Purview DSPM for AI — one DLP/audit plane across clouds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920240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365760"/>
            <a:ext cx="1554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i="0">
                <a:solidFill>
                  <a:srgbClr val="0F6CBD"/>
                </a:solidFill>
                <a:latin typeface="Segoe U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160020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19F9D"/>
                </a:solidFill>
                <a:latin typeface="Segoe UI"/>
              </a:rPr>
              <a:t>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56032"/>
            <a:ext cx="97840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201F1E"/>
                </a:solidFill>
                <a:latin typeface="Segoe UI"/>
              </a:rPr>
              <a:t>AWS Cross-cloud Interop (the close)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70432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1">
                <a:solidFill>
                  <a:srgbClr val="0F6CBD"/>
                </a:solidFill>
                <a:latin typeface="Segoe UI"/>
              </a:rPr>
              <a:t>“Bedrock runs an agent. Foundry runs the agent factory. MCP and A2A let each cloud do what it's best at.”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627632"/>
            <a:ext cx="9692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0F6CBD"/>
                </a:solidFill>
                <a:latin typeface="Segoe UI"/>
              </a:rPr>
              <a:t>DEMO   </a:t>
            </a:r>
            <a:r>
              <a:rPr sz="1150" b="0" i="0">
                <a:solidFill>
                  <a:srgbClr val="605E5C"/>
                </a:solidFill>
                <a:latin typeface="Segoe UI"/>
              </a:rPr>
              <a:t>Foundry agent calls an AWS tool over MCP (mock Lambda); A2A hands off to a Bedrock agent.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0280" y="2103120"/>
            <a:ext cx="3977639" cy="2926080"/>
          </a:xfrm>
          <a:prstGeom prst="roundRect">
            <a:avLst/>
          </a:prstGeom>
          <a:solidFill>
            <a:srgbClr val="EBF3FB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68296" y="2157984"/>
            <a:ext cx="3721607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05E5C"/>
                </a:solidFill>
                <a:latin typeface="Segoe UI"/>
              </a:rPr>
              <a:t>Microsoft Azure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2103120"/>
            <a:ext cx="4434840" cy="2926080"/>
          </a:xfrm>
          <a:prstGeom prst="roundRect">
            <a:avLst/>
          </a:prstGeom>
          <a:solidFill>
            <a:srgbClr val="F7EFE3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88936" y="2157984"/>
            <a:ext cx="4178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i="0">
                <a:solidFill>
                  <a:srgbClr val="605E5C"/>
                </a:solidFill>
                <a:latin typeface="Segoe UI"/>
              </a:rPr>
              <a:t>AWS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3154680"/>
            <a:ext cx="2788920" cy="868680"/>
          </a:xfrm>
          <a:prstGeom prst="round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Foundry Agent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3154680"/>
            <a:ext cx="1737360" cy="868680"/>
          </a:xfrm>
          <a:prstGeom prst="round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MCP / A2A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2560320"/>
            <a:ext cx="3611880" cy="73152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AWS tool — Lambda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26679" y="4114800"/>
            <a:ext cx="3611880" cy="731520"/>
          </a:xfrm>
          <a:prstGeom prst="roundRect">
            <a:avLst/>
          </a:prstGeom>
          <a:solidFill>
            <a:srgbClr val="F3F2F1"/>
          </a:solidFill>
          <a:ln w="12700">
            <a:solidFill>
              <a:srgbClr val="B3B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 i="0">
                <a:solidFill>
                  <a:srgbClr val="201F1E"/>
                </a:solidFill>
                <a:latin typeface="Segoe UI"/>
              </a:rPr>
              <a:t>Amazon Bedrock agent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49240" y="3589020"/>
            <a:ext cx="1005840" cy="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 flipV="1">
            <a:off x="7726679" y="2926080"/>
            <a:ext cx="365761" cy="662940"/>
          </a:xfrm>
          <a:prstGeom prst="line">
            <a:avLst/>
          </a:prstGeom>
          <a:ln w="22225">
            <a:solidFill>
              <a:srgbClr val="605E5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7726679" y="3589020"/>
            <a:ext cx="365761" cy="891540"/>
          </a:xfrm>
          <a:prstGeom prst="line">
            <a:avLst/>
          </a:prstGeom>
          <a:ln w="22225">
            <a:solidFill>
              <a:srgbClr val="605E5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223759" y="3879342"/>
            <a:ext cx="13716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anchor="ctr">
            <a:spAutoFit/>
          </a:bodyPr>
          <a:lstStyle/>
          <a:p>
            <a:pPr algn="ctr"/>
            <a:r>
              <a:rPr sz="850" b="0" i="1">
                <a:solidFill>
                  <a:srgbClr val="605E5C"/>
                </a:solidFill>
                <a:latin typeface="Segoe UI"/>
              </a:rPr>
              <a:t>A2A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5157216"/>
            <a:ext cx="9509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605E5C"/>
                </a:solidFill>
                <a:latin typeface="Segoe UI"/>
              </a:rPr>
              <a:t>WHERE A HOMEGROWN FACTORY FALLS SHORT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4028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Wrap, don't rewrite — call AWS tools from Foundry via MCP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A2A hand-off exposes Foundry agents to Bedrock and back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32520" y="5440680"/>
            <a:ext cx="3108960" cy="822960"/>
          </a:xfrm>
          <a:prstGeom prst="roundRect">
            <a:avLst/>
          </a:prstGeom>
          <a:solidFill>
            <a:srgbClr val="F3F2F1"/>
          </a:solidFill>
          <a:ln w="9525">
            <a:solidFill>
              <a:srgbClr val="E1DF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36576" bIns="36576"/>
          <a:lstStyle/>
          <a:p>
            <a:pPr algn="ctr"/>
            <a:r>
              <a:rPr sz="1050" b="1" i="0">
                <a:solidFill>
                  <a:srgbClr val="0F6CBD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01F1E"/>
                </a:solidFill>
                <a:latin typeface="Segoe UI"/>
              </a:rPr>
              <a:t>Governance overlay (Entra + Purview) spans both clouds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F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48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Segoe UI"/>
              </a:rPr>
              <a:t>Coexistence — and the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 b="1" i="0">
                <a:solidFill>
                  <a:srgbClr val="0F6CBD"/>
                </a:solidFill>
                <a:latin typeface="Segoe UI"/>
              </a:rPr>
              <a:t>Bedrock runs an agent. Foundry runs the agent FACTORY. MCP + A2A join the two.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C8C6C4"/>
                </a:solidFill>
                <a:latin typeface="Segoe UI"/>
              </a:rPr>
              <a:t>Keep Bedrock where it works · add Foundry where you have gaps (identity, eval, tracing, grounding, safety) · unify governance with Purview across both clouds.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C8C6C4"/>
                </a:solidFill>
                <a:latin typeface="Segoe UI"/>
              </a:rPr>
              <a:t/>
            </a:r>
          </a:p>
          <a:p>
            <a:pPr>
              <a:spcAft>
                <a:spcPts val="1200"/>
              </a:spcAft>
            </a:pPr>
            <a:r>
              <a:rPr sz="2200" b="1" i="0">
                <a:solidFill>
                  <a:srgbClr val="0F6CBD"/>
                </a:solidFill>
                <a:latin typeface="Segoe UI"/>
              </a:rPr>
              <a:t>Foundry  +  Citadel  +  Agentic Patterns.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C8C6C4"/>
                </a:solidFill>
                <a:latin typeface="Segoe UI"/>
              </a:rPr>
              <a:t>Platform. Governance at scale. The fastest path to business value.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